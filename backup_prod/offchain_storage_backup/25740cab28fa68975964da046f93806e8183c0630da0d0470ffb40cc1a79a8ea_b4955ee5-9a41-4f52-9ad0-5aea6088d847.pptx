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handoutMasterIdLst>
    <p:handoutMasterId r:id="rId56"/>
  </p:handoutMasterIdLst>
  <p:sldIdLst>
    <p:sldId id="520" r:id="rId2"/>
    <p:sldId id="563" r:id="rId3"/>
    <p:sldId id="564" r:id="rId4"/>
    <p:sldId id="567" r:id="rId5"/>
    <p:sldId id="582" r:id="rId6"/>
    <p:sldId id="583" r:id="rId7"/>
    <p:sldId id="585" r:id="rId8"/>
    <p:sldId id="571" r:id="rId9"/>
    <p:sldId id="572" r:id="rId10"/>
    <p:sldId id="565" r:id="rId11"/>
    <p:sldId id="568" r:id="rId12"/>
    <p:sldId id="569" r:id="rId13"/>
    <p:sldId id="570" r:id="rId14"/>
    <p:sldId id="573" r:id="rId15"/>
    <p:sldId id="620" r:id="rId16"/>
    <p:sldId id="576" r:id="rId17"/>
    <p:sldId id="586" r:id="rId18"/>
    <p:sldId id="575" r:id="rId19"/>
    <p:sldId id="577" r:id="rId20"/>
    <p:sldId id="587" r:id="rId21"/>
    <p:sldId id="578" r:id="rId22"/>
    <p:sldId id="579" r:id="rId23"/>
    <p:sldId id="581" r:id="rId24"/>
    <p:sldId id="589" r:id="rId25"/>
    <p:sldId id="588" r:id="rId26"/>
    <p:sldId id="590" r:id="rId27"/>
    <p:sldId id="591" r:id="rId28"/>
    <p:sldId id="592" r:id="rId29"/>
    <p:sldId id="593" r:id="rId30"/>
    <p:sldId id="599" r:id="rId31"/>
    <p:sldId id="594" r:id="rId32"/>
    <p:sldId id="595" r:id="rId33"/>
    <p:sldId id="596" r:id="rId34"/>
    <p:sldId id="597" r:id="rId35"/>
    <p:sldId id="598" r:id="rId36"/>
    <p:sldId id="600" r:id="rId37"/>
    <p:sldId id="601" r:id="rId38"/>
    <p:sldId id="602" r:id="rId39"/>
    <p:sldId id="603" r:id="rId40"/>
    <p:sldId id="604" r:id="rId41"/>
    <p:sldId id="605" r:id="rId42"/>
    <p:sldId id="606" r:id="rId43"/>
    <p:sldId id="607" r:id="rId44"/>
    <p:sldId id="608" r:id="rId45"/>
    <p:sldId id="609" r:id="rId46"/>
    <p:sldId id="610" r:id="rId47"/>
    <p:sldId id="611" r:id="rId48"/>
    <p:sldId id="613" r:id="rId49"/>
    <p:sldId id="614" r:id="rId50"/>
    <p:sldId id="615" r:id="rId51"/>
    <p:sldId id="616" r:id="rId52"/>
    <p:sldId id="617" r:id="rId53"/>
    <p:sldId id="619" r:id="rId5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B29A"/>
    <a:srgbClr val="000F2E"/>
    <a:srgbClr val="00194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12" autoAdjust="0"/>
    <p:restoredTop sz="94434" autoAdjust="0"/>
  </p:normalViewPr>
  <p:slideViewPr>
    <p:cSldViewPr showGuides="1">
      <p:cViewPr varScale="1">
        <p:scale>
          <a:sx n="83" d="100"/>
          <a:sy n="83" d="100"/>
        </p:scale>
        <p:origin x="600" y="77"/>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D5163DD-12C9-4B8E-91F3-BECE4B548A1F}" type="datetimeFigureOut">
              <a:rPr lang="en-US" smtClean="0"/>
              <a:t>8/18/2026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Mr. R C Ravindranath, Asst. Prof., SOE-CSE</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884565-77A9-41BC-A3D1-C71554A711C1}"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B35E0ABE-3FD2-4491-A84F-F5DF78F574D2}" type="datetimeFigureOut">
              <a:rPr lang="en-US"/>
              <a:t>8/18/2026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r>
              <a:rPr lang="en-US"/>
              <a:t>Mr. R C Ravindranath, Asst. Prof., SOE-CSE</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a:defRPr/>
            </a:pPr>
            <a:fld id="{CDD763F7-5C11-4DBC-83B1-39D83E1FBE10}" type="slidenum">
              <a:rPr lang="en-US" altLang="en-US"/>
              <a:t>‹#›</a:t>
            </a:fld>
            <a:endParaRPr lang="en-US" altLang="en-US"/>
          </a:p>
        </p:txBody>
      </p:sp>
    </p:spTree>
    <p:extLst>
      <p:ext uri="{BB962C8B-B14F-4D97-AF65-F5344CB8AC3E}">
        <p14:creationId xmlns:p14="http://schemas.microsoft.com/office/powerpoint/2010/main" val="1498029433"/>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DD763F7-5C11-4DBC-83B1-39D83E1FBE10}" type="slidenum">
              <a:rPr lang="en-US" altLang="en-US" smtClean="0"/>
              <a:t>1</a:t>
            </a:fld>
            <a:endParaRPr lang="en-US" altLang="en-US"/>
          </a:p>
        </p:txBody>
      </p:sp>
      <p:sp>
        <p:nvSpPr>
          <p:cNvPr id="5" name="Footer Placeholder 4"/>
          <p:cNvSpPr>
            <a:spLocks noGrp="1"/>
          </p:cNvSpPr>
          <p:nvPr>
            <p:ph type="ftr" sz="quarter" idx="11"/>
          </p:nvPr>
        </p:nvSpPr>
        <p:spPr/>
        <p:txBody>
          <a:bodyPr/>
          <a:lstStyle/>
          <a:p>
            <a:pPr>
              <a:defRPr/>
            </a:pPr>
            <a:r>
              <a:rPr lang="en-US"/>
              <a:t>Mr. R C Ravindranath, Asst. Prof., SOE-CSE</a:t>
            </a:r>
          </a:p>
        </p:txBody>
      </p:sp>
    </p:spTree>
    <p:extLst>
      <p:ext uri="{BB962C8B-B14F-4D97-AF65-F5344CB8AC3E}">
        <p14:creationId xmlns:p14="http://schemas.microsoft.com/office/powerpoint/2010/main" val="2415876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B338DF3D-30B5-4203-9F61-4DF4C93549F9}" type="datetime1">
              <a:rPr lang="en-US" smtClean="0"/>
              <a:t>8/18/2026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6" name="Slide Number Placeholder 5"/>
          <p:cNvSpPr>
            <a:spLocks noGrp="1"/>
          </p:cNvSpPr>
          <p:nvPr>
            <p:ph type="sldNum" sz="quarter" idx="12"/>
          </p:nvPr>
        </p:nvSpPr>
        <p:spPr/>
        <p:txBody>
          <a:bodyPr/>
          <a:lstStyle>
            <a:lvl1pPr>
              <a:defRPr/>
            </a:lvl1pPr>
          </a:lstStyle>
          <a:p>
            <a:pPr>
              <a:defRPr/>
            </a:pPr>
            <a:fld id="{772A8AC2-F0C4-4335-A6D7-C22D8A222454}" type="slidenum">
              <a:rPr lang="en-US" altLang="en-US"/>
              <a:t>‹#›</a:t>
            </a:fld>
            <a:endParaRPr lang="en-US"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335B14D7-8BA9-4EE1-835E-4199F7C88E61}" type="datetime1">
              <a:rPr lang="en-US" smtClean="0"/>
              <a:t>8/18/2026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6" name="Slide Number Placeholder 5"/>
          <p:cNvSpPr>
            <a:spLocks noGrp="1"/>
          </p:cNvSpPr>
          <p:nvPr>
            <p:ph type="sldNum" sz="quarter" idx="12"/>
          </p:nvPr>
        </p:nvSpPr>
        <p:spPr/>
        <p:txBody>
          <a:bodyPr/>
          <a:lstStyle>
            <a:lvl1pPr>
              <a:defRPr/>
            </a:lvl1pPr>
          </a:lstStyle>
          <a:p>
            <a:pPr>
              <a:defRPr/>
            </a:pPr>
            <a:fld id="{A01CA5F2-CD08-4EF5-BAD9-872B7BB27165}" type="slidenum">
              <a:rPr lang="en-US" altLang="en-US"/>
              <a:t>‹#›</a:t>
            </a:fld>
            <a:endParaRPr lang="en-US"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C04ACBE5-8387-44C2-8244-3C027748E0C1}" type="datetime1">
              <a:rPr lang="en-US" smtClean="0"/>
              <a:t>8/18/2026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6" name="Slide Number Placeholder 5"/>
          <p:cNvSpPr>
            <a:spLocks noGrp="1"/>
          </p:cNvSpPr>
          <p:nvPr>
            <p:ph type="sldNum" sz="quarter" idx="12"/>
          </p:nvPr>
        </p:nvSpPr>
        <p:spPr/>
        <p:txBody>
          <a:bodyPr/>
          <a:lstStyle>
            <a:lvl1pPr>
              <a:defRPr/>
            </a:lvl1pPr>
          </a:lstStyle>
          <a:p>
            <a:pPr>
              <a:defRPr/>
            </a:pPr>
            <a:fld id="{3CB43365-358E-4EFB-9D2F-D6778ADA2A33}" type="slidenum">
              <a:rPr lang="en-US" altLang="en-US"/>
              <a:t>‹#›</a:t>
            </a:fld>
            <a:endParaRPr lang="en-US"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BE333E74-61D9-4270-845E-08C577B4746D}" type="datetime1">
              <a:rPr lang="en-US" smtClean="0"/>
              <a:t>8/18/2026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7" name="Slide Number Placeholder 5"/>
          <p:cNvSpPr>
            <a:spLocks noGrp="1"/>
          </p:cNvSpPr>
          <p:nvPr>
            <p:ph type="sldNum" sz="quarter" idx="12"/>
          </p:nvPr>
        </p:nvSpPr>
        <p:spPr/>
        <p:txBody>
          <a:bodyPr/>
          <a:lstStyle>
            <a:lvl1pPr>
              <a:defRPr/>
            </a:lvl1pPr>
          </a:lstStyle>
          <a:p>
            <a:pPr>
              <a:defRPr/>
            </a:pPr>
            <a:fld id="{7061B66A-860D-4F77-A12A-57453AAB16AB}" type="slidenum">
              <a:rPr lang="en-US" altLang="en-US"/>
              <a:t>‹#›</a:t>
            </a:fld>
            <a:endParaRPr lang="en-US"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122D354B-A90F-4649-BCD0-7311B9A1E519}" type="datetime1">
              <a:rPr lang="en-US" smtClean="0"/>
              <a:t>8/18/2026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9" name="Slide Number Placeholder 5"/>
          <p:cNvSpPr>
            <a:spLocks noGrp="1"/>
          </p:cNvSpPr>
          <p:nvPr>
            <p:ph type="sldNum" sz="quarter" idx="12"/>
          </p:nvPr>
        </p:nvSpPr>
        <p:spPr/>
        <p:txBody>
          <a:bodyPr/>
          <a:lstStyle>
            <a:lvl1pPr>
              <a:defRPr/>
            </a:lvl1pPr>
          </a:lstStyle>
          <a:p>
            <a:pPr>
              <a:defRPr/>
            </a:pPr>
            <a:fld id="{F19E9FAA-A59B-4AE0-A044-7FE2AB03AB9B}" type="slidenum">
              <a:rPr lang="en-US" altLang="en-US"/>
              <a:t>‹#›</a:t>
            </a:fld>
            <a:endParaRPr lang="en-US"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F25BB299-A05B-4721-910A-149978AA2F99}" type="datetime1">
              <a:rPr lang="en-US" smtClean="0"/>
              <a:t>8/18/2026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5" name="Slide Number Placeholder 5"/>
          <p:cNvSpPr>
            <a:spLocks noGrp="1"/>
          </p:cNvSpPr>
          <p:nvPr>
            <p:ph type="sldNum" sz="quarter" idx="12"/>
          </p:nvPr>
        </p:nvSpPr>
        <p:spPr/>
        <p:txBody>
          <a:bodyPr/>
          <a:lstStyle>
            <a:lvl1pPr>
              <a:defRPr/>
            </a:lvl1pPr>
          </a:lstStyle>
          <a:p>
            <a:pPr>
              <a:defRPr/>
            </a:pPr>
            <a:fld id="{5FF55CBD-5A35-43A0-8B72-DFEEFFF78235}" type="slidenum">
              <a:rPr lang="en-US" altLang="en-US"/>
              <a:t>‹#›</a:t>
            </a:fld>
            <a:endParaRPr lang="en-US"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485C664-8172-4B0B-91AD-99832E49CA68}" type="datetime1">
              <a:rPr lang="en-US" smtClean="0"/>
              <a:t>8/18/2026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4" name="Slide Number Placeholder 5"/>
          <p:cNvSpPr>
            <a:spLocks noGrp="1"/>
          </p:cNvSpPr>
          <p:nvPr>
            <p:ph type="sldNum" sz="quarter" idx="12"/>
          </p:nvPr>
        </p:nvSpPr>
        <p:spPr/>
        <p:txBody>
          <a:bodyPr/>
          <a:lstStyle>
            <a:lvl1pPr>
              <a:defRPr/>
            </a:lvl1pPr>
          </a:lstStyle>
          <a:p>
            <a:pPr>
              <a:defRPr/>
            </a:pPr>
            <a:fld id="{5EDAE260-203A-48BA-B1E0-2820BBC6B005}" type="slidenum">
              <a:rPr lang="en-US" altLang="en-US"/>
              <a:t>‹#›</a:t>
            </a:fld>
            <a:endParaRPr lang="en-US"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39FEB66-1999-4885-9013-09B59463BA52}" type="datetime1">
              <a:rPr lang="en-US" smtClean="0"/>
              <a:t>8/18/2026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7" name="Slide Number Placeholder 5"/>
          <p:cNvSpPr>
            <a:spLocks noGrp="1"/>
          </p:cNvSpPr>
          <p:nvPr>
            <p:ph type="sldNum" sz="quarter" idx="12"/>
          </p:nvPr>
        </p:nvSpPr>
        <p:spPr/>
        <p:txBody>
          <a:bodyPr/>
          <a:lstStyle>
            <a:lvl1pPr>
              <a:defRPr/>
            </a:lvl1pPr>
          </a:lstStyle>
          <a:p>
            <a:pPr>
              <a:defRPr/>
            </a:pPr>
            <a:fld id="{4043378E-E05F-4D65-B4F7-A87FC0276302}" type="slidenum">
              <a:rPr lang="en-US" altLang="en-US"/>
              <a:t>‹#›</a:t>
            </a:fld>
            <a:endParaRPr lang="en-US"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E228574B-A9ED-4C5D-BC0D-2EE4E2CF73B9}" type="datetime1">
              <a:rPr lang="en-US" smtClean="0"/>
              <a:t>8/18/2026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7" name="Slide Number Placeholder 5"/>
          <p:cNvSpPr>
            <a:spLocks noGrp="1"/>
          </p:cNvSpPr>
          <p:nvPr>
            <p:ph type="sldNum" sz="quarter" idx="12"/>
          </p:nvPr>
        </p:nvSpPr>
        <p:spPr/>
        <p:txBody>
          <a:bodyPr/>
          <a:lstStyle>
            <a:lvl1pPr>
              <a:defRPr/>
            </a:lvl1pPr>
          </a:lstStyle>
          <a:p>
            <a:pPr>
              <a:defRPr/>
            </a:pPr>
            <a:fld id="{7D2A09E5-A14B-4738-A48E-EF064E453217}" type="slidenum">
              <a:rPr lang="en-US" altLang="en-US"/>
              <a:t>‹#›</a:t>
            </a:fld>
            <a:endParaRPr lang="en-US"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9EF852DC-FA04-43A8-808A-7B02012B408F}" type="datetime1">
              <a:rPr lang="en-US" smtClean="0"/>
              <a:t>8/18/2026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6" name="Slide Number Placeholder 5"/>
          <p:cNvSpPr>
            <a:spLocks noGrp="1"/>
          </p:cNvSpPr>
          <p:nvPr>
            <p:ph type="sldNum" sz="quarter" idx="12"/>
          </p:nvPr>
        </p:nvSpPr>
        <p:spPr/>
        <p:txBody>
          <a:bodyPr/>
          <a:lstStyle>
            <a:lvl1pPr>
              <a:defRPr/>
            </a:lvl1pPr>
          </a:lstStyle>
          <a:p>
            <a:pPr>
              <a:defRPr/>
            </a:pPr>
            <a:fld id="{9A110372-953E-4601-976C-D82CD9FCE073}" type="slidenum">
              <a:rPr lang="en-US" altLang="en-US"/>
              <a:t>‹#›</a:t>
            </a:fld>
            <a:endParaRPr lang="en-US"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B2285DBF-07E6-4C04-8128-7BB2323544A4}" type="datetime1">
              <a:rPr lang="en-US" smtClean="0"/>
              <a:t>8/18/2026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6" name="Slide Number Placeholder 5"/>
          <p:cNvSpPr>
            <a:spLocks noGrp="1"/>
          </p:cNvSpPr>
          <p:nvPr>
            <p:ph type="sldNum" sz="quarter" idx="12"/>
          </p:nvPr>
        </p:nvSpPr>
        <p:spPr/>
        <p:txBody>
          <a:bodyPr/>
          <a:lstStyle>
            <a:lvl1pPr>
              <a:defRPr/>
            </a:lvl1pPr>
          </a:lstStyle>
          <a:p>
            <a:pPr>
              <a:defRPr/>
            </a:pPr>
            <a:fld id="{0BCDF80F-6F68-4B94-9701-0F2026993C48}" type="slidenum">
              <a:rPr lang="en-US" altLang="en-US"/>
              <a:t>‹#›</a:t>
            </a:fld>
            <a:endParaRPr lang="en-US"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7290EFBF-FDBC-4E11-8D09-14402F29F22D}" type="datetime1">
              <a:rPr lang="en-US" smtClean="0"/>
              <a:t>8/18/2026</a:t>
            </a:fld>
            <a:endParaRPr lang="en-US"/>
          </a:p>
        </p:txBody>
      </p:sp>
      <p:sp>
        <p:nvSpPr>
          <p:cNvPr id="5" name="Footer Placeholder 4"/>
          <p:cNvSpPr>
            <a:spLocks noGrp="1"/>
          </p:cNvSpPr>
          <p:nvPr>
            <p:ph type="ftr" sz="quarter" idx="11"/>
          </p:nvPr>
        </p:nvSpPr>
        <p:spPr/>
        <p:txBody>
          <a:bodyPr/>
          <a:lstStyle/>
          <a:p>
            <a:pPr>
              <a:defRPr/>
            </a:pPr>
            <a:r>
              <a:rPr lang="en-US"/>
              <a:t>Mr. R C Ravindranath, Asst. Prof, SOE-CSE</a:t>
            </a:r>
          </a:p>
        </p:txBody>
      </p:sp>
      <p:sp>
        <p:nvSpPr>
          <p:cNvPr id="6" name="Slide Number Placeholder 5"/>
          <p:cNvSpPr>
            <a:spLocks noGrp="1"/>
          </p:cNvSpPr>
          <p:nvPr>
            <p:ph type="sldNum" sz="quarter" idx="12"/>
          </p:nvPr>
        </p:nvSpPr>
        <p:spPr/>
        <p:txBody>
          <a:bodyPr/>
          <a:lstStyle/>
          <a:p>
            <a:pPr>
              <a:defRPr/>
            </a:pPr>
            <a:fld id="{03391736-D1CD-4256-BC31-406FE5C1CD1F}" type="slidenum">
              <a:rPr lang="en-US" altLang="en-US"/>
              <a:t>‹#›</a:t>
            </a:fld>
            <a:endParaRPr lang="en-US"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mtClean="0">
                <a:solidFill>
                  <a:schemeClr val="tx1">
                    <a:tint val="75000"/>
                  </a:schemeClr>
                </a:solidFill>
              </a:defRPr>
            </a:lvl1pPr>
          </a:lstStyle>
          <a:p>
            <a:pPr>
              <a:defRPr/>
            </a:pPr>
            <a:fld id="{7290EFBF-FDBC-4E11-8D09-14402F29F22D}" type="datetime1">
              <a:rPr lang="en-US" smtClean="0"/>
              <a:t>8/18/2026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Mr. R C Ravindranath, Asst. Prof, SOE-CSE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mtClean="0">
                <a:solidFill>
                  <a:schemeClr val="tx1">
                    <a:tint val="75000"/>
                  </a:schemeClr>
                </a:solidFill>
              </a:defRPr>
            </a:lvl1pPr>
          </a:lstStyle>
          <a:p>
            <a:pPr>
              <a:defRPr/>
            </a:pPr>
            <a:fld id="{03391736-D1CD-4256-BC31-406FE5C1CD1F}" type="slidenum">
              <a:rPr lang="en-US" altLang="en-US"/>
              <a:t>‹#›</a:t>
            </a:fld>
            <a:endParaRPr lang="en-US" altLang="en-US"/>
          </a:p>
        </p:txBody>
      </p:sp>
      <p:pic>
        <p:nvPicPr>
          <p:cNvPr id="1031" name="Picture 7"/>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14600" y="1447800"/>
            <a:ext cx="7696200" cy="2895600"/>
          </a:xfrm>
          <a:prstGeom prst="rect">
            <a:avLst/>
          </a:prstGeom>
          <a:solidFill>
            <a:schemeClr val="bg1"/>
          </a:solidFill>
          <a:ln w="9525">
            <a:solidFill>
              <a:schemeClr val="accent1"/>
            </a:solidFill>
            <a:round/>
          </a:ln>
          <a:effectLst>
            <a:outerShdw blurRad="50800" dist="38100" dir="2700000" algn="tl" rotWithShape="0">
              <a:prstClr val="black">
                <a:alpha val="40000"/>
              </a:prstClr>
            </a:outerShdw>
          </a:effectLst>
        </p:spPr>
        <p:txBody>
          <a:bodyPr lIns="90000" tIns="46800" rIns="90000" bIns="46800" anchor="ctr"/>
          <a:lstStyle/>
          <a:p>
            <a:pPr algn="ctr" defTabSz="457200">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800" b="1" dirty="0">
                <a:solidFill>
                  <a:srgbClr val="002060"/>
                </a:solidFill>
                <a:latin typeface="Times New Roman" panose="02020603050405020304" pitchFamily="18" charset="0"/>
                <a:cs typeface="Times New Roman" panose="02020603050405020304" pitchFamily="18" charset="0"/>
              </a:rPr>
              <a:t>CSS2266- Theory of Computation</a:t>
            </a:r>
          </a:p>
          <a:p>
            <a:pPr algn="ctr" defTabSz="457200">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800" b="1" dirty="0">
                <a:solidFill>
                  <a:srgbClr val="FF0000"/>
                </a:solidFill>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L-T-P-C: 3-0-0-3</a:t>
            </a:r>
            <a:r>
              <a:rPr lang="en-US" sz="2800" b="1" dirty="0">
                <a:solidFill>
                  <a:srgbClr val="FF0000"/>
                </a:solidFill>
                <a:latin typeface="Times New Roman" panose="02020603050405020304" pitchFamily="18" charset="0"/>
                <a:cs typeface="Times New Roman" panose="02020603050405020304" pitchFamily="18" charset="0"/>
              </a:rPr>
              <a:t>] </a:t>
            </a:r>
          </a:p>
          <a:p>
            <a:pPr algn="ctr" defTabSz="457200">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endParaRPr lang="en-US" sz="2800" b="1" dirty="0">
              <a:solidFill>
                <a:srgbClr val="002060"/>
              </a:solidFill>
              <a:latin typeface="Times New Roman" panose="02020603050405020304" pitchFamily="18" charset="0"/>
              <a:cs typeface="Times New Roman" panose="02020603050405020304" pitchFamily="18" charset="0"/>
            </a:endParaRPr>
          </a:p>
          <a:p>
            <a:pPr algn="ctr" defTabSz="457200">
              <a:buClr>
                <a:srgbClr val="000000"/>
              </a:buClr>
              <a:buSzPct val="100000"/>
              <a:buFont typeface="Times New Roman" panose="02020603050405020304"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800" b="1" dirty="0">
                <a:solidFill>
                  <a:srgbClr val="002060"/>
                </a:solidFill>
                <a:latin typeface="Times New Roman" panose="02020603050405020304" pitchFamily="18" charset="0"/>
                <a:cs typeface="Times New Roman" panose="02020603050405020304" pitchFamily="18" charset="0"/>
              </a:rPr>
              <a:t>Module 1: Introduction to Automata Theory.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cs typeface="Arial" panose="020B0604020202020204" pitchFamily="34" charset="0"/>
              </a:rPr>
              <a:t>1</a:t>
            </a:fld>
            <a:endParaRPr lang="en-US" altLang="en-US">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8040" y="1981201"/>
            <a:ext cx="10515600" cy="1447800"/>
          </a:xfrm>
        </p:spPr>
        <p:txBody>
          <a:bodyPr/>
          <a:lstStyle/>
          <a:p>
            <a:pPr algn="ctr"/>
            <a:r>
              <a:rPr lang="en-US" dirty="0">
                <a:latin typeface="Times New Roman" panose="02020603050405020304" pitchFamily="18" charset="0"/>
                <a:cs typeface="Times New Roman" panose="02020603050405020304" pitchFamily="18" charset="0"/>
              </a:rPr>
              <a:t>Introduction to Automata Theory.	</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5FF55CBD-5A35-43A0-8B72-DFEEFFF78235}" type="slidenum">
              <a:rPr lang="en-US" altLang="en-US" smtClean="0"/>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28600"/>
            <a:ext cx="8839200" cy="609600"/>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What is Computation?</a:t>
            </a:r>
          </a:p>
        </p:txBody>
      </p:sp>
      <p:sp>
        <p:nvSpPr>
          <p:cNvPr id="3" name="Content Placeholder 2"/>
          <p:cNvSpPr>
            <a:spLocks noGrp="1"/>
          </p:cNvSpPr>
          <p:nvPr>
            <p:ph idx="1"/>
          </p:nvPr>
        </p:nvSpPr>
        <p:spPr>
          <a:xfrm>
            <a:off x="609600" y="914400"/>
            <a:ext cx="11125200" cy="5211764"/>
          </a:xfrm>
        </p:spPr>
        <p:txBody>
          <a:bodyPr>
            <a:normAutofit lnSpcReduction="10000"/>
          </a:bodyPr>
          <a:lstStyle/>
          <a:p>
            <a:pPr marL="0" indent="0">
              <a:buNone/>
            </a:pPr>
            <a:r>
              <a:rPr lang="en-US" altLang="en-US" sz="2400" dirty="0">
                <a:latin typeface="Times New Roman" panose="02020603050405020304" pitchFamily="18" charset="0"/>
                <a:cs typeface="Times New Roman" panose="02020603050405020304" pitchFamily="18" charset="0"/>
              </a:rPr>
              <a:t>Computation is the process of solving a problem by executing a sequence of well-defined steps (an algorithm).</a:t>
            </a:r>
          </a:p>
          <a:p>
            <a:pPr marL="0" indent="0">
              <a:buNone/>
            </a:pPr>
            <a:endParaRPr lang="en-US" altLang="en-US" sz="2400" b="1" u="sng" dirty="0">
              <a:latin typeface="Times New Roman" panose="02020603050405020304" pitchFamily="18" charset="0"/>
              <a:cs typeface="Times New Roman" panose="02020603050405020304" pitchFamily="18" charset="0"/>
            </a:endParaRPr>
          </a:p>
          <a:p>
            <a:pPr marL="0" indent="0">
              <a:buNone/>
            </a:pPr>
            <a:endParaRPr lang="en-US" altLang="en-US" sz="2400" b="1" u="sng" dirty="0">
              <a:latin typeface="Times New Roman" panose="02020603050405020304" pitchFamily="18" charset="0"/>
              <a:cs typeface="Times New Roman" panose="02020603050405020304" pitchFamily="18" charset="0"/>
            </a:endParaRPr>
          </a:p>
          <a:p>
            <a:pPr marL="0" indent="0">
              <a:buNone/>
            </a:pPr>
            <a:endParaRPr lang="en-US" altLang="en-US" sz="2400" b="1" u="sng" dirty="0">
              <a:latin typeface="Times New Roman" panose="02020603050405020304" pitchFamily="18" charset="0"/>
              <a:cs typeface="Times New Roman" panose="02020603050405020304" pitchFamily="18" charset="0"/>
            </a:endParaRPr>
          </a:p>
          <a:p>
            <a:pPr marL="0" indent="0">
              <a:buNone/>
            </a:pPr>
            <a:endParaRPr lang="en-US" altLang="en-US" sz="2400" b="1" u="sng" dirty="0">
              <a:latin typeface="Times New Roman" panose="02020603050405020304" pitchFamily="18" charset="0"/>
              <a:cs typeface="Times New Roman" panose="02020603050405020304" pitchFamily="18" charset="0"/>
            </a:endParaRPr>
          </a:p>
          <a:p>
            <a:pPr marL="0" indent="0">
              <a:buNone/>
            </a:pPr>
            <a:endParaRPr lang="en-US" altLang="en-US" sz="2400" b="1" u="sng" dirty="0">
              <a:latin typeface="Times New Roman" panose="02020603050405020304" pitchFamily="18" charset="0"/>
              <a:cs typeface="Times New Roman" panose="02020603050405020304" pitchFamily="18" charset="0"/>
            </a:endParaRPr>
          </a:p>
          <a:p>
            <a:pPr marL="0" indent="0">
              <a:buNone/>
            </a:pPr>
            <a:endParaRPr lang="en-US" altLang="en-US" sz="2400" b="1" u="sng"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Every computation has</a:t>
            </a:r>
          </a:p>
          <a:p>
            <a:r>
              <a:rPr lang="en-US" sz="2400" dirty="0">
                <a:latin typeface="Times New Roman" panose="02020603050405020304" pitchFamily="18" charset="0"/>
                <a:cs typeface="Times New Roman" panose="02020603050405020304" pitchFamily="18" charset="0"/>
              </a:rPr>
              <a:t>Input </a:t>
            </a:r>
          </a:p>
          <a:p>
            <a:r>
              <a:rPr lang="en-US" sz="2400" dirty="0">
                <a:latin typeface="Times New Roman" panose="02020603050405020304" pitchFamily="18" charset="0"/>
                <a:cs typeface="Times New Roman" panose="02020603050405020304" pitchFamily="18" charset="0"/>
              </a:rPr>
              <a:t>Processing </a:t>
            </a:r>
          </a:p>
          <a:p>
            <a:r>
              <a:rPr lang="en-US" sz="2400" dirty="0">
                <a:latin typeface="Times New Roman" panose="02020603050405020304" pitchFamily="18" charset="0"/>
                <a:cs typeface="Times New Roman" panose="02020603050405020304" pitchFamily="18" charset="0"/>
              </a:rPr>
              <a:t>Output</a:t>
            </a:r>
          </a:p>
          <a:p>
            <a:pPr marL="0" indent="0">
              <a:buNone/>
            </a:pPr>
            <a:endParaRPr lang="en-US" altLang="en-US" sz="2400" b="1" u="sng"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t>3</a:t>
            </a:fld>
            <a:endParaRPr lang="en-US"/>
          </a:p>
        </p:txBody>
      </p:sp>
      <p:pic>
        <p:nvPicPr>
          <p:cNvPr id="8" name="Picture 7">
            <a:extLst>
              <a:ext uri="{FF2B5EF4-FFF2-40B4-BE49-F238E27FC236}">
                <a16:creationId xmlns:a16="http://schemas.microsoft.com/office/drawing/2014/main" id="{50040B18-2DD7-4101-A0EE-24E7A7AA9F55}"/>
              </a:ext>
            </a:extLst>
          </p:cNvPr>
          <p:cNvPicPr>
            <a:picLocks noChangeAspect="1"/>
          </p:cNvPicPr>
          <p:nvPr/>
        </p:nvPicPr>
        <p:blipFill>
          <a:blip r:embed="rId2"/>
          <a:stretch>
            <a:fillRect/>
          </a:stretch>
        </p:blipFill>
        <p:spPr>
          <a:xfrm>
            <a:off x="3733800" y="1676400"/>
            <a:ext cx="2682413" cy="233954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28600"/>
            <a:ext cx="8839200" cy="609600"/>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What is Theory of Computation?</a:t>
            </a:r>
          </a:p>
        </p:txBody>
      </p:sp>
      <p:sp>
        <p:nvSpPr>
          <p:cNvPr id="3" name="Content Placeholder 2"/>
          <p:cNvSpPr>
            <a:spLocks noGrp="1"/>
          </p:cNvSpPr>
          <p:nvPr>
            <p:ph idx="1"/>
          </p:nvPr>
        </p:nvSpPr>
        <p:spPr>
          <a:xfrm>
            <a:off x="0" y="914400"/>
            <a:ext cx="12115800" cy="5211764"/>
          </a:xfrm>
        </p:spPr>
        <p:txBody>
          <a:bodyPr>
            <a:normAutofit/>
          </a:bodyPr>
          <a:lstStyle/>
          <a:p>
            <a:pPr marL="0" indent="0">
              <a:lnSpc>
                <a:spcPct val="150000"/>
              </a:lnSpc>
              <a:buNone/>
            </a:pPr>
            <a:r>
              <a:rPr lang="en-US" altLang="en-US" sz="2400" dirty="0">
                <a:latin typeface="Times New Roman" panose="02020603050405020304" pitchFamily="18" charset="0"/>
                <a:cs typeface="Times New Roman" panose="02020603050405020304" pitchFamily="18" charset="0"/>
              </a:rPr>
              <a:t>Theory of Computation is the branch of computer science that studies the mathematical models of computation and determines what problems a computer can and cannot solve.</a:t>
            </a:r>
          </a:p>
          <a:p>
            <a:pPr marL="0" indent="0">
              <a:lnSpc>
                <a:spcPct val="150000"/>
              </a:lnSpc>
              <a:buNone/>
            </a:pPr>
            <a:r>
              <a:rPr lang="en-US" altLang="en-US" sz="2400" dirty="0">
                <a:latin typeface="Times New Roman" panose="02020603050405020304" pitchFamily="18" charset="0"/>
                <a:cs typeface="Times New Roman" panose="02020603050405020304" pitchFamily="18" charset="0"/>
              </a:rPr>
              <a:t>Simple explanation</a:t>
            </a:r>
          </a:p>
          <a:p>
            <a:pPr marL="0" indent="0">
              <a:lnSpc>
                <a:spcPct val="150000"/>
              </a:lnSpc>
              <a:buNone/>
            </a:pPr>
            <a:r>
              <a:rPr lang="en-US" altLang="en-US" sz="2400" dirty="0">
                <a:latin typeface="Times New Roman" panose="02020603050405020304" pitchFamily="18" charset="0"/>
                <a:cs typeface="Times New Roman" panose="02020603050405020304" pitchFamily="18" charset="0"/>
              </a:rPr>
              <a:t>It answers questions like:</a:t>
            </a:r>
          </a:p>
          <a:p>
            <a:pPr marL="0" indent="0">
              <a:lnSpc>
                <a:spcPct val="150000"/>
              </a:lnSpc>
              <a:buNone/>
            </a:pPr>
            <a:r>
              <a:rPr lang="en-US" altLang="en-US" sz="2400" dirty="0">
                <a:latin typeface="Times New Roman" panose="02020603050405020304" pitchFamily="18" charset="0"/>
                <a:cs typeface="Times New Roman" panose="02020603050405020304" pitchFamily="18" charset="0"/>
              </a:rPr>
              <a:t>	Can a computer solve this problem?</a:t>
            </a:r>
          </a:p>
          <a:p>
            <a:pPr marL="0" indent="0">
              <a:lnSpc>
                <a:spcPct val="150000"/>
              </a:lnSpc>
              <a:buNone/>
            </a:pPr>
            <a:r>
              <a:rPr lang="en-US" altLang="en-US" sz="2400" dirty="0">
                <a:latin typeface="Times New Roman" panose="02020603050405020304" pitchFamily="18" charset="0"/>
                <a:cs typeface="Times New Roman" panose="02020603050405020304" pitchFamily="18" charset="0"/>
              </a:rPr>
              <a:t>	How can it solve it?</a:t>
            </a:r>
          </a:p>
          <a:p>
            <a:pPr marL="0" indent="0">
              <a:lnSpc>
                <a:spcPct val="150000"/>
              </a:lnSpc>
              <a:buNone/>
            </a:pPr>
            <a:r>
              <a:rPr lang="en-US" altLang="en-US" sz="2400" dirty="0">
                <a:latin typeface="Times New Roman" panose="02020603050405020304" pitchFamily="18" charset="0"/>
                <a:cs typeface="Times New Roman" panose="02020603050405020304" pitchFamily="18" charset="0"/>
              </a:rPr>
              <a:t>	How much memory is required?</a:t>
            </a:r>
          </a:p>
          <a:p>
            <a:pPr marL="0" indent="0">
              <a:lnSpc>
                <a:spcPct val="150000"/>
              </a:lnSpc>
              <a:buNone/>
            </a:pPr>
            <a:r>
              <a:rPr lang="en-US" altLang="en-US" sz="2400" dirty="0">
                <a:latin typeface="Times New Roman" panose="02020603050405020304" pitchFamily="18" charset="0"/>
                <a:cs typeface="Times New Roman" panose="02020603050405020304" pitchFamily="18" charset="0"/>
              </a:rPr>
              <a:t>	How much time is required?</a:t>
            </a:r>
            <a:endParaRPr lang="en-US" altLang="en-US" sz="2400" b="1" u="sng"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t>4</a:t>
            </a:fld>
            <a:endParaRPr lang="en-US"/>
          </a:p>
        </p:txBody>
      </p:sp>
    </p:spTree>
    <p:extLst>
      <p:ext uri="{BB962C8B-B14F-4D97-AF65-F5344CB8AC3E}">
        <p14:creationId xmlns:p14="http://schemas.microsoft.com/office/powerpoint/2010/main" val="1235972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28600"/>
            <a:ext cx="8839200" cy="609600"/>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What is Theory of Computation?</a:t>
            </a:r>
          </a:p>
        </p:txBody>
      </p:sp>
      <p:sp>
        <p:nvSpPr>
          <p:cNvPr id="3" name="Content Placeholder 2"/>
          <p:cNvSpPr>
            <a:spLocks noGrp="1"/>
          </p:cNvSpPr>
          <p:nvPr>
            <p:ph idx="1"/>
          </p:nvPr>
        </p:nvSpPr>
        <p:spPr>
          <a:xfrm>
            <a:off x="0" y="914400"/>
            <a:ext cx="12115800" cy="5211764"/>
          </a:xfrm>
        </p:spPr>
        <p:txBody>
          <a:bodyPr>
            <a:normAutofit/>
          </a:bodyPr>
          <a:lstStyle/>
          <a:p>
            <a:pPr marL="0" indent="0">
              <a:lnSpc>
                <a:spcPct val="150000"/>
              </a:lnSpc>
              <a:buNone/>
            </a:pPr>
            <a:r>
              <a:rPr lang="en-US" altLang="en-US" sz="2400" dirty="0">
                <a:latin typeface="Times New Roman" panose="02020603050405020304" pitchFamily="18" charset="0"/>
                <a:cs typeface="Times New Roman" panose="02020603050405020304" pitchFamily="18" charset="0"/>
              </a:rPr>
              <a:t>Think of it like this: </a:t>
            </a:r>
          </a:p>
          <a:p>
            <a:pPr marL="0" indent="0">
              <a:lnSpc>
                <a:spcPct val="150000"/>
              </a:lnSpc>
              <a:buNone/>
            </a:pPr>
            <a:r>
              <a:rPr lang="en-US" altLang="en-US" sz="2400" dirty="0">
                <a:latin typeface="Times New Roman" panose="02020603050405020304" pitchFamily="18" charset="0"/>
                <a:cs typeface="Times New Roman" panose="02020603050405020304" pitchFamily="18" charset="0"/>
              </a:rPr>
              <a:t>	A civil engineer studies models of bridges before constructing a real bridge.</a:t>
            </a:r>
          </a:p>
          <a:p>
            <a:pPr marL="0" indent="0">
              <a:lnSpc>
                <a:spcPct val="150000"/>
              </a:lnSpc>
              <a:buNone/>
            </a:pPr>
            <a:r>
              <a:rPr lang="en-US" altLang="en-US" sz="2400" dirty="0">
                <a:latin typeface="Times New Roman" panose="02020603050405020304" pitchFamily="18" charset="0"/>
                <a:cs typeface="Times New Roman" panose="02020603050405020304" pitchFamily="18" charset="0"/>
              </a:rPr>
              <a:t>Similarly, </a:t>
            </a:r>
          </a:p>
          <a:p>
            <a:pPr marL="0" indent="0">
              <a:lnSpc>
                <a:spcPct val="150000"/>
              </a:lnSpc>
              <a:buNone/>
            </a:pPr>
            <a:r>
              <a:rPr lang="en-US" altLang="en-US" sz="2400" dirty="0">
                <a:latin typeface="Times New Roman" panose="02020603050405020304" pitchFamily="18" charset="0"/>
                <a:cs typeface="Times New Roman" panose="02020603050405020304" pitchFamily="18" charset="0"/>
              </a:rPr>
              <a:t>	Computer scientists study </a:t>
            </a:r>
            <a:r>
              <a:rPr lang="en-US" altLang="en-US" sz="2400" b="1" dirty="0">
                <a:latin typeface="Times New Roman" panose="02020603050405020304" pitchFamily="18" charset="0"/>
                <a:cs typeface="Times New Roman" panose="02020603050405020304" pitchFamily="18" charset="0"/>
              </a:rPr>
              <a:t>models of computers </a:t>
            </a:r>
            <a:r>
              <a:rPr lang="en-US" altLang="en-US" sz="2400" dirty="0">
                <a:latin typeface="Times New Roman" panose="02020603050405020304" pitchFamily="18" charset="0"/>
                <a:cs typeface="Times New Roman" panose="02020603050405020304" pitchFamily="18" charset="0"/>
              </a:rPr>
              <a:t>before designing algorithms, programming languages, compilers, and AI systems.</a:t>
            </a:r>
            <a:endParaRPr lang="en-US" altLang="en-US" sz="2400" b="1" u="sng"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t>5</a:t>
            </a:fld>
            <a:endParaRPr lang="en-US"/>
          </a:p>
        </p:txBody>
      </p:sp>
    </p:spTree>
    <p:extLst>
      <p:ext uri="{BB962C8B-B14F-4D97-AF65-F5344CB8AC3E}">
        <p14:creationId xmlns:p14="http://schemas.microsoft.com/office/powerpoint/2010/main" val="4231220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28600"/>
            <a:ext cx="8839200" cy="609600"/>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Why not study only real computers?</a:t>
            </a:r>
          </a:p>
        </p:txBody>
      </p:sp>
      <p:sp>
        <p:nvSpPr>
          <p:cNvPr id="3" name="Content Placeholder 2"/>
          <p:cNvSpPr>
            <a:spLocks noGrp="1"/>
          </p:cNvSpPr>
          <p:nvPr>
            <p:ph idx="1"/>
          </p:nvPr>
        </p:nvSpPr>
        <p:spPr>
          <a:xfrm>
            <a:off x="0" y="914400"/>
            <a:ext cx="12115800" cy="5211764"/>
          </a:xfrm>
        </p:spPr>
        <p:txBody>
          <a:bodyPr>
            <a:normAutofit/>
          </a:bodyPr>
          <a:lstStyle/>
          <a:p>
            <a:pPr marL="0" indent="0">
              <a:lnSpc>
                <a:spcPct val="150000"/>
              </a:lnSpc>
              <a:buNone/>
            </a:pPr>
            <a:r>
              <a:rPr lang="en-US" altLang="en-US" sz="2400" dirty="0">
                <a:latin typeface="Times New Roman" panose="02020603050405020304" pitchFamily="18" charset="0"/>
                <a:cs typeface="Times New Roman" panose="02020603050405020304" pitchFamily="18" charset="0"/>
              </a:rPr>
              <a:t>Real computers are different.</a:t>
            </a:r>
          </a:p>
          <a:p>
            <a:pPr lvl="1">
              <a:lnSpc>
                <a:spcPct val="150000"/>
              </a:lnSpc>
            </a:pPr>
            <a:r>
              <a:rPr lang="en-US" altLang="en-US" dirty="0">
                <a:latin typeface="Times New Roman" panose="02020603050405020304" pitchFamily="18" charset="0"/>
                <a:cs typeface="Times New Roman" panose="02020603050405020304" pitchFamily="18" charset="0"/>
              </a:rPr>
              <a:t>Intel processors</a:t>
            </a:r>
          </a:p>
          <a:p>
            <a:pPr lvl="1">
              <a:lnSpc>
                <a:spcPct val="150000"/>
              </a:lnSpc>
            </a:pPr>
            <a:r>
              <a:rPr lang="en-US" altLang="en-US" sz="2000" dirty="0">
                <a:latin typeface="Times New Roman" panose="02020603050405020304" pitchFamily="18" charset="0"/>
                <a:cs typeface="Times New Roman" panose="02020603050405020304" pitchFamily="18" charset="0"/>
              </a:rPr>
              <a:t>AMD processors</a:t>
            </a:r>
          </a:p>
          <a:p>
            <a:pPr lvl="1">
              <a:lnSpc>
                <a:spcPct val="150000"/>
              </a:lnSpc>
            </a:pPr>
            <a:r>
              <a:rPr lang="en-US" altLang="en-US" sz="2000" dirty="0">
                <a:latin typeface="Times New Roman" panose="02020603050405020304" pitchFamily="18" charset="0"/>
                <a:cs typeface="Times New Roman" panose="02020603050405020304" pitchFamily="18" charset="0"/>
              </a:rPr>
              <a:t>ARM processors (mobile phones)</a:t>
            </a:r>
          </a:p>
          <a:p>
            <a:pPr lvl="1">
              <a:lnSpc>
                <a:spcPct val="150000"/>
              </a:lnSpc>
            </a:pPr>
            <a:r>
              <a:rPr lang="en-US" altLang="en-US" sz="2000" dirty="0">
                <a:latin typeface="Times New Roman" panose="02020603050405020304" pitchFamily="18" charset="0"/>
                <a:cs typeface="Times New Roman" panose="02020603050405020304" pitchFamily="18" charset="0"/>
              </a:rPr>
              <a:t>Apple Silicon</a:t>
            </a:r>
          </a:p>
          <a:p>
            <a:pPr marL="0" indent="0">
              <a:lnSpc>
                <a:spcPct val="150000"/>
              </a:lnSpc>
              <a:buNone/>
            </a:pPr>
            <a:r>
              <a:rPr lang="en-US" altLang="en-US" sz="2400" dirty="0">
                <a:latin typeface="Times New Roman" panose="02020603050405020304" pitchFamily="18" charset="0"/>
                <a:cs typeface="Times New Roman" panose="02020603050405020304" pitchFamily="18" charset="0"/>
              </a:rPr>
              <a:t>Each has different hardware. Instead of studying every hardware architecture, computer scientists created an abstract mathematical computer.</a:t>
            </a:r>
          </a:p>
          <a:p>
            <a:pPr marL="0" indent="0">
              <a:lnSpc>
                <a:spcPct val="150000"/>
              </a:lnSpc>
              <a:buNone/>
            </a:pPr>
            <a:r>
              <a:rPr lang="en-US" altLang="en-US" sz="2400" dirty="0">
                <a:latin typeface="Times New Roman" panose="02020603050405020304" pitchFamily="18" charset="0"/>
                <a:cs typeface="Times New Roman" panose="02020603050405020304" pitchFamily="18" charset="0"/>
              </a:rPr>
              <a:t>This makes analysis much easier.</a:t>
            </a:r>
            <a:endParaRPr lang="en-US" altLang="en-US" sz="2400" b="1" u="sng"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t>6</a:t>
            </a:fld>
            <a:endParaRPr lang="en-US"/>
          </a:p>
        </p:txBody>
      </p:sp>
    </p:spTree>
    <p:extLst>
      <p:ext uri="{BB962C8B-B14F-4D97-AF65-F5344CB8AC3E}">
        <p14:creationId xmlns:p14="http://schemas.microsoft.com/office/powerpoint/2010/main" val="2637652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28600"/>
            <a:ext cx="8839200" cy="609600"/>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Evolution of Computation Models</a:t>
            </a:r>
          </a:p>
        </p:txBody>
      </p:sp>
      <p:sp>
        <p:nvSpPr>
          <p:cNvPr id="3" name="Content Placeholder 2"/>
          <p:cNvSpPr>
            <a:spLocks noGrp="1"/>
          </p:cNvSpPr>
          <p:nvPr>
            <p:ph idx="1"/>
          </p:nvPr>
        </p:nvSpPr>
        <p:spPr>
          <a:xfrm>
            <a:off x="0" y="914400"/>
            <a:ext cx="12115800" cy="5211764"/>
          </a:xfrm>
        </p:spPr>
        <p:txBody>
          <a:bodyPr>
            <a:normAutofit/>
          </a:bodyPr>
          <a:lstStyle/>
          <a:p>
            <a:pPr marL="0" indent="0">
              <a:lnSpc>
                <a:spcPct val="150000"/>
              </a:lnSpc>
              <a:buNone/>
            </a:pPr>
            <a:r>
              <a:rPr lang="en-US" altLang="en-US" sz="2400" dirty="0">
                <a:latin typeface="Times New Roman" panose="02020603050405020304" pitchFamily="18" charset="0"/>
                <a:cs typeface="Times New Roman" panose="02020603050405020304" pitchFamily="18" charset="0"/>
              </a:rPr>
              <a:t>The history of computation developed through increasingly powerful models.</a:t>
            </a:r>
          </a:p>
          <a:p>
            <a:pPr marL="0" indent="0" algn="ctr">
              <a:lnSpc>
                <a:spcPct val="150000"/>
              </a:lnSpc>
              <a:buNone/>
            </a:pPr>
            <a:r>
              <a:rPr lang="en-US" altLang="en-US" sz="2400" b="1" dirty="0">
                <a:latin typeface="Times New Roman" panose="02020603050405020304" pitchFamily="18" charset="0"/>
                <a:cs typeface="Times New Roman" panose="02020603050405020304" pitchFamily="18" charset="0"/>
              </a:rPr>
              <a:t>Finite Automata (FA)</a:t>
            </a:r>
          </a:p>
          <a:p>
            <a:pPr marL="0" indent="0" algn="ctr">
              <a:lnSpc>
                <a:spcPct val="150000"/>
              </a:lnSpc>
              <a:buNone/>
            </a:pPr>
            <a:r>
              <a:rPr lang="en-US" altLang="en-US" sz="2400" b="1" dirty="0">
                <a:latin typeface="Times New Roman" panose="02020603050405020304" pitchFamily="18" charset="0"/>
                <a:cs typeface="Times New Roman" panose="02020603050405020304" pitchFamily="18" charset="0"/>
              </a:rPr>
              <a:t>     ↓</a:t>
            </a:r>
          </a:p>
          <a:p>
            <a:pPr marL="0" indent="0" algn="ctr">
              <a:lnSpc>
                <a:spcPct val="150000"/>
              </a:lnSpc>
              <a:buNone/>
            </a:pPr>
            <a:r>
              <a:rPr lang="en-US" altLang="en-US" sz="2400" b="1" dirty="0">
                <a:latin typeface="Times New Roman" panose="02020603050405020304" pitchFamily="18" charset="0"/>
                <a:cs typeface="Times New Roman" panose="02020603050405020304" pitchFamily="18" charset="0"/>
              </a:rPr>
              <a:t>Pushdown Automata (PDA)</a:t>
            </a:r>
          </a:p>
          <a:p>
            <a:pPr marL="0" indent="0" algn="ctr">
              <a:lnSpc>
                <a:spcPct val="150000"/>
              </a:lnSpc>
              <a:buNone/>
            </a:pPr>
            <a:r>
              <a:rPr lang="en-US" altLang="en-US" sz="2400" b="1" dirty="0">
                <a:latin typeface="Times New Roman" panose="02020603050405020304" pitchFamily="18" charset="0"/>
                <a:cs typeface="Times New Roman" panose="02020603050405020304" pitchFamily="18" charset="0"/>
              </a:rPr>
              <a:t>     ↓</a:t>
            </a:r>
          </a:p>
          <a:p>
            <a:pPr marL="0" indent="0" algn="ctr">
              <a:lnSpc>
                <a:spcPct val="150000"/>
              </a:lnSpc>
              <a:buNone/>
            </a:pPr>
            <a:r>
              <a:rPr lang="en-US" altLang="en-US" sz="2400" b="1" dirty="0">
                <a:latin typeface="Times New Roman" panose="02020603050405020304" pitchFamily="18" charset="0"/>
                <a:cs typeface="Times New Roman" panose="02020603050405020304" pitchFamily="18" charset="0"/>
              </a:rPr>
              <a:t>Turing Machine (TM)</a:t>
            </a:r>
          </a:p>
        </p:txBody>
      </p:sp>
      <p:sp>
        <p:nvSpPr>
          <p:cNvPr id="6" name="Slide Number Placeholder 5"/>
          <p:cNvSpPr>
            <a:spLocks noGrp="1"/>
          </p:cNvSpPr>
          <p:nvPr>
            <p:ph type="sldNum" sz="quarter" idx="12"/>
          </p:nvPr>
        </p:nvSpPr>
        <p:spPr/>
        <p:txBody>
          <a:bodyPr/>
          <a:lstStyle/>
          <a:p>
            <a:fld id="{B6F15528-21DE-4FAA-801E-634DDDAF4B2B}" type="slidenum">
              <a:rPr lang="en-US" smtClean="0"/>
              <a:t>7</a:t>
            </a:fld>
            <a:endParaRPr lang="en-US"/>
          </a:p>
        </p:txBody>
      </p:sp>
    </p:spTree>
    <p:extLst>
      <p:ext uri="{BB962C8B-B14F-4D97-AF65-F5344CB8AC3E}">
        <p14:creationId xmlns:p14="http://schemas.microsoft.com/office/powerpoint/2010/main" val="1976669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67FC-B6F5-4E7A-8607-639858EBBFB6}"/>
              </a:ext>
            </a:extLst>
          </p:cNvPr>
          <p:cNvSpPr>
            <a:spLocks noGrp="1"/>
          </p:cNvSpPr>
          <p:nvPr>
            <p:ph type="title"/>
          </p:nvPr>
        </p:nvSpPr>
        <p:spPr>
          <a:xfrm>
            <a:off x="0" y="0"/>
            <a:ext cx="12192000" cy="930275"/>
          </a:xfrm>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Abstract Machine</a:t>
            </a:r>
          </a:p>
        </p:txBody>
      </p:sp>
      <p:sp>
        <p:nvSpPr>
          <p:cNvPr id="4" name="Slide Number Placeholder 3">
            <a:extLst>
              <a:ext uri="{FF2B5EF4-FFF2-40B4-BE49-F238E27FC236}">
                <a16:creationId xmlns:a16="http://schemas.microsoft.com/office/drawing/2014/main" id="{BC6661CF-F5B5-4B9A-9860-3555BB0BD290}"/>
              </a:ext>
            </a:extLst>
          </p:cNvPr>
          <p:cNvSpPr>
            <a:spLocks noGrp="1"/>
          </p:cNvSpPr>
          <p:nvPr>
            <p:ph type="sldNum" sz="quarter" idx="12"/>
          </p:nvPr>
        </p:nvSpPr>
        <p:spPr/>
        <p:txBody>
          <a:bodyPr/>
          <a:lstStyle/>
          <a:p>
            <a:pPr>
              <a:defRPr/>
            </a:pPr>
            <a:fld id="{A01CA5F2-CD08-4EF5-BAD9-872B7BB27165}" type="slidenum">
              <a:rPr lang="en-US" altLang="en-US" smtClean="0"/>
              <a:t>8</a:t>
            </a:fld>
            <a:endParaRPr lang="en-US" altLang="en-US"/>
          </a:p>
        </p:txBody>
      </p:sp>
      <p:sp>
        <p:nvSpPr>
          <p:cNvPr id="3" name="Content Placeholder 2">
            <a:extLst>
              <a:ext uri="{FF2B5EF4-FFF2-40B4-BE49-F238E27FC236}">
                <a16:creationId xmlns:a16="http://schemas.microsoft.com/office/drawing/2014/main" id="{93FB2CF9-EF82-44D4-B04E-C9652721873F}"/>
              </a:ext>
            </a:extLst>
          </p:cNvPr>
          <p:cNvSpPr>
            <a:spLocks noGrp="1"/>
          </p:cNvSpPr>
          <p:nvPr>
            <p:ph idx="1"/>
          </p:nvPr>
        </p:nvSpPr>
        <p:spPr>
          <a:xfrm>
            <a:off x="0" y="930276"/>
            <a:ext cx="12192000" cy="5927724"/>
          </a:xfrm>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	An abstract machine is a theoretical or mathematical model of a computer used to study how computation works. It is not a physical machine like a laptop or smartphone; instead, it is an imaginary model that helps us understand how a computer processes input and solves problems.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50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67FC-B6F5-4E7A-8607-639858EBBFB6}"/>
              </a:ext>
            </a:extLst>
          </p:cNvPr>
          <p:cNvSpPr>
            <a:spLocks noGrp="1"/>
          </p:cNvSpPr>
          <p:nvPr>
            <p:ph type="title"/>
          </p:nvPr>
        </p:nvSpPr>
        <p:spPr>
          <a:xfrm>
            <a:off x="0" y="0"/>
            <a:ext cx="12192000" cy="930275"/>
          </a:xfrm>
        </p:spPr>
        <p:txBody>
          <a:bodyPr/>
          <a:lstStyle/>
          <a:p>
            <a:r>
              <a:rPr lang="en-US" dirty="0">
                <a:latin typeface="Times New Roman" panose="02020603050405020304" pitchFamily="18" charset="0"/>
                <a:cs typeface="Times New Roman" panose="02020603050405020304" pitchFamily="18" charset="0"/>
              </a:rPr>
              <a:t>Automata Theory</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C6661CF-F5B5-4B9A-9860-3555BB0BD290}"/>
              </a:ext>
            </a:extLst>
          </p:cNvPr>
          <p:cNvSpPr>
            <a:spLocks noGrp="1"/>
          </p:cNvSpPr>
          <p:nvPr>
            <p:ph type="sldNum" sz="quarter" idx="12"/>
          </p:nvPr>
        </p:nvSpPr>
        <p:spPr/>
        <p:txBody>
          <a:bodyPr/>
          <a:lstStyle/>
          <a:p>
            <a:pPr>
              <a:defRPr/>
            </a:pPr>
            <a:fld id="{A01CA5F2-CD08-4EF5-BAD9-872B7BB27165}" type="slidenum">
              <a:rPr lang="en-US" altLang="en-US" smtClean="0"/>
              <a:t>9</a:t>
            </a:fld>
            <a:endParaRPr lang="en-US" altLang="en-US"/>
          </a:p>
        </p:txBody>
      </p:sp>
      <p:sp>
        <p:nvSpPr>
          <p:cNvPr id="3" name="Content Placeholder 2">
            <a:extLst>
              <a:ext uri="{FF2B5EF4-FFF2-40B4-BE49-F238E27FC236}">
                <a16:creationId xmlns:a16="http://schemas.microsoft.com/office/drawing/2014/main" id="{93FB2CF9-EF82-44D4-B04E-C9652721873F}"/>
              </a:ext>
            </a:extLst>
          </p:cNvPr>
          <p:cNvSpPr>
            <a:spLocks noGrp="1"/>
          </p:cNvSpPr>
          <p:nvPr>
            <p:ph idx="1"/>
          </p:nvPr>
        </p:nvSpPr>
        <p:spPr>
          <a:xfrm>
            <a:off x="0" y="930276"/>
            <a:ext cx="12192000" cy="5927724"/>
          </a:xfrm>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	Automata Theory is studies abstract computing machines (automata). The computational problems can be solved using them. It explains how machines process input strings, change between different states, and determine whether the input is accepted or rejected.</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E96A94B-1B31-4E3A-8FA5-66CC5E224D30}"/>
              </a:ext>
            </a:extLst>
          </p:cNvPr>
          <p:cNvPicPr>
            <a:picLocks noChangeAspect="1"/>
          </p:cNvPicPr>
          <p:nvPr/>
        </p:nvPicPr>
        <p:blipFill>
          <a:blip r:embed="rId2"/>
          <a:stretch>
            <a:fillRect/>
          </a:stretch>
        </p:blipFill>
        <p:spPr>
          <a:xfrm>
            <a:off x="2895600" y="3537548"/>
            <a:ext cx="6950042" cy="3304741"/>
          </a:xfrm>
          <a:prstGeom prst="rect">
            <a:avLst/>
          </a:prstGeom>
        </p:spPr>
      </p:pic>
    </p:spTree>
    <p:extLst>
      <p:ext uri="{BB962C8B-B14F-4D97-AF65-F5344CB8AC3E}">
        <p14:creationId xmlns:p14="http://schemas.microsoft.com/office/powerpoint/2010/main" val="334905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67FC-B6F5-4E7A-8607-639858EBBFB6}"/>
              </a:ext>
            </a:extLst>
          </p:cNvPr>
          <p:cNvSpPr>
            <a:spLocks noGrp="1"/>
          </p:cNvSpPr>
          <p:nvPr>
            <p:ph type="title"/>
          </p:nvPr>
        </p:nvSpPr>
        <p:spPr>
          <a:xfrm>
            <a:off x="0" y="0"/>
            <a:ext cx="12192000" cy="930275"/>
          </a:xfrm>
        </p:spPr>
        <p:txBody>
          <a:bodyPr/>
          <a:lstStyle/>
          <a:p>
            <a:r>
              <a:rPr lang="en-IN" dirty="0">
                <a:latin typeface="Times New Roman" panose="02020603050405020304" pitchFamily="18" charset="0"/>
                <a:cs typeface="Times New Roman" panose="02020603050405020304" pitchFamily="18" charset="0"/>
              </a:rPr>
              <a:t>Computation</a:t>
            </a:r>
          </a:p>
        </p:txBody>
      </p:sp>
      <p:pic>
        <p:nvPicPr>
          <p:cNvPr id="6" name="Content Placeholder 5">
            <a:extLst>
              <a:ext uri="{FF2B5EF4-FFF2-40B4-BE49-F238E27FC236}">
                <a16:creationId xmlns:a16="http://schemas.microsoft.com/office/drawing/2014/main" id="{B15E35B4-6B57-4B97-9529-7507A8E7E92A}"/>
              </a:ext>
            </a:extLst>
          </p:cNvPr>
          <p:cNvPicPr>
            <a:picLocks noGrp="1" noChangeAspect="1"/>
          </p:cNvPicPr>
          <p:nvPr>
            <p:ph idx="1"/>
          </p:nvPr>
        </p:nvPicPr>
        <p:blipFill>
          <a:blip r:embed="rId2"/>
          <a:stretch>
            <a:fillRect/>
          </a:stretch>
        </p:blipFill>
        <p:spPr>
          <a:xfrm>
            <a:off x="2321572" y="1253331"/>
            <a:ext cx="7548855" cy="4351338"/>
          </a:xfrm>
        </p:spPr>
      </p:pic>
      <p:sp>
        <p:nvSpPr>
          <p:cNvPr id="4" name="Slide Number Placeholder 3">
            <a:extLst>
              <a:ext uri="{FF2B5EF4-FFF2-40B4-BE49-F238E27FC236}">
                <a16:creationId xmlns:a16="http://schemas.microsoft.com/office/drawing/2014/main" id="{BC6661CF-F5B5-4B9A-9860-3555BB0BD290}"/>
              </a:ext>
            </a:extLst>
          </p:cNvPr>
          <p:cNvSpPr>
            <a:spLocks noGrp="1"/>
          </p:cNvSpPr>
          <p:nvPr>
            <p:ph type="sldNum" sz="quarter" idx="12"/>
          </p:nvPr>
        </p:nvSpPr>
        <p:spPr/>
        <p:txBody>
          <a:bodyPr/>
          <a:lstStyle/>
          <a:p>
            <a:pPr>
              <a:defRPr/>
            </a:pPr>
            <a:fld id="{A01CA5F2-CD08-4EF5-BAD9-872B7BB27165}" type="slidenum">
              <a:rPr lang="en-US" altLang="en-US" smtClean="0"/>
              <a:t>10</a:t>
            </a:fld>
            <a:endParaRPr lang="en-US" altLang="en-US"/>
          </a:p>
        </p:txBody>
      </p:sp>
    </p:spTree>
    <p:extLst>
      <p:ext uri="{BB962C8B-B14F-4D97-AF65-F5344CB8AC3E}">
        <p14:creationId xmlns:p14="http://schemas.microsoft.com/office/powerpoint/2010/main" val="476698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67FC-B6F5-4E7A-8607-639858EBBFB6}"/>
              </a:ext>
            </a:extLst>
          </p:cNvPr>
          <p:cNvSpPr>
            <a:spLocks noGrp="1"/>
          </p:cNvSpPr>
          <p:nvPr>
            <p:ph type="title"/>
          </p:nvPr>
        </p:nvSpPr>
        <p:spPr>
          <a:xfrm>
            <a:off x="0" y="0"/>
            <a:ext cx="12192000" cy="930275"/>
          </a:xfrm>
        </p:spPr>
        <p:txBody>
          <a:bodyPr/>
          <a:lstStyle/>
          <a:p>
            <a:r>
              <a:rPr lang="en-IN" dirty="0">
                <a:latin typeface="Times New Roman" panose="02020603050405020304" pitchFamily="18" charset="0"/>
                <a:cs typeface="Times New Roman" panose="02020603050405020304" pitchFamily="18" charset="0"/>
              </a:rPr>
              <a:t>Computation</a:t>
            </a:r>
          </a:p>
        </p:txBody>
      </p:sp>
      <p:sp>
        <p:nvSpPr>
          <p:cNvPr id="4" name="Slide Number Placeholder 3">
            <a:extLst>
              <a:ext uri="{FF2B5EF4-FFF2-40B4-BE49-F238E27FC236}">
                <a16:creationId xmlns:a16="http://schemas.microsoft.com/office/drawing/2014/main" id="{BC6661CF-F5B5-4B9A-9860-3555BB0BD290}"/>
              </a:ext>
            </a:extLst>
          </p:cNvPr>
          <p:cNvSpPr>
            <a:spLocks noGrp="1"/>
          </p:cNvSpPr>
          <p:nvPr>
            <p:ph type="sldNum" sz="quarter" idx="12"/>
          </p:nvPr>
        </p:nvSpPr>
        <p:spPr/>
        <p:txBody>
          <a:bodyPr/>
          <a:lstStyle/>
          <a:p>
            <a:pPr>
              <a:defRPr/>
            </a:pPr>
            <a:fld id="{A01CA5F2-CD08-4EF5-BAD9-872B7BB27165}" type="slidenum">
              <a:rPr lang="en-US" altLang="en-US" smtClean="0"/>
              <a:t>11</a:t>
            </a:fld>
            <a:endParaRPr lang="en-US" altLang="en-US"/>
          </a:p>
        </p:txBody>
      </p:sp>
      <p:pic>
        <p:nvPicPr>
          <p:cNvPr id="7" name="Content Placeholder 6">
            <a:extLst>
              <a:ext uri="{FF2B5EF4-FFF2-40B4-BE49-F238E27FC236}">
                <a16:creationId xmlns:a16="http://schemas.microsoft.com/office/drawing/2014/main" id="{5549BBCE-2CA7-4990-9DBD-51C5867D8F48}"/>
              </a:ext>
            </a:extLst>
          </p:cNvPr>
          <p:cNvPicPr>
            <a:picLocks noGrp="1" noChangeAspect="1"/>
          </p:cNvPicPr>
          <p:nvPr>
            <p:ph idx="1"/>
          </p:nvPr>
        </p:nvPicPr>
        <p:blipFill>
          <a:blip r:embed="rId2"/>
          <a:stretch>
            <a:fillRect/>
          </a:stretch>
        </p:blipFill>
        <p:spPr>
          <a:xfrm>
            <a:off x="0" y="685800"/>
            <a:ext cx="11811000" cy="5943599"/>
          </a:xfrm>
        </p:spPr>
      </p:pic>
    </p:spTree>
    <p:extLst>
      <p:ext uri="{BB962C8B-B14F-4D97-AF65-F5344CB8AC3E}">
        <p14:creationId xmlns:p14="http://schemas.microsoft.com/office/powerpoint/2010/main" val="150764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67FC-B6F5-4E7A-8607-639858EBBFB6}"/>
              </a:ext>
            </a:extLst>
          </p:cNvPr>
          <p:cNvSpPr>
            <a:spLocks noGrp="1"/>
          </p:cNvSpPr>
          <p:nvPr>
            <p:ph type="title"/>
          </p:nvPr>
        </p:nvSpPr>
        <p:spPr>
          <a:xfrm>
            <a:off x="0" y="0"/>
            <a:ext cx="12192000" cy="930275"/>
          </a:xfrm>
        </p:spPr>
        <p:txBody>
          <a:bodyPr/>
          <a:lstStyle/>
          <a:p>
            <a:r>
              <a:rPr lang="en-IN" dirty="0">
                <a:latin typeface="Times New Roman" panose="02020603050405020304" pitchFamily="18" charset="0"/>
                <a:cs typeface="Times New Roman" panose="02020603050405020304" pitchFamily="18" charset="0"/>
              </a:rPr>
              <a:t>Computation</a:t>
            </a:r>
          </a:p>
        </p:txBody>
      </p:sp>
      <p:sp>
        <p:nvSpPr>
          <p:cNvPr id="4" name="Slide Number Placeholder 3">
            <a:extLst>
              <a:ext uri="{FF2B5EF4-FFF2-40B4-BE49-F238E27FC236}">
                <a16:creationId xmlns:a16="http://schemas.microsoft.com/office/drawing/2014/main" id="{BC6661CF-F5B5-4B9A-9860-3555BB0BD290}"/>
              </a:ext>
            </a:extLst>
          </p:cNvPr>
          <p:cNvSpPr>
            <a:spLocks noGrp="1"/>
          </p:cNvSpPr>
          <p:nvPr>
            <p:ph type="sldNum" sz="quarter" idx="12"/>
          </p:nvPr>
        </p:nvSpPr>
        <p:spPr/>
        <p:txBody>
          <a:bodyPr/>
          <a:lstStyle/>
          <a:p>
            <a:pPr>
              <a:defRPr/>
            </a:pPr>
            <a:fld id="{A01CA5F2-CD08-4EF5-BAD9-872B7BB27165}" type="slidenum">
              <a:rPr lang="en-US" altLang="en-US" smtClean="0"/>
              <a:t>12</a:t>
            </a:fld>
            <a:endParaRPr lang="en-US" altLang="en-US"/>
          </a:p>
        </p:txBody>
      </p:sp>
      <p:pic>
        <p:nvPicPr>
          <p:cNvPr id="7" name="Content Placeholder 6">
            <a:extLst>
              <a:ext uri="{FF2B5EF4-FFF2-40B4-BE49-F238E27FC236}">
                <a16:creationId xmlns:a16="http://schemas.microsoft.com/office/drawing/2014/main" id="{5549BBCE-2CA7-4990-9DBD-51C5867D8F48}"/>
              </a:ext>
            </a:extLst>
          </p:cNvPr>
          <p:cNvPicPr>
            <a:picLocks noGrp="1" noChangeAspect="1"/>
          </p:cNvPicPr>
          <p:nvPr>
            <p:ph idx="1"/>
          </p:nvPr>
        </p:nvPicPr>
        <p:blipFill>
          <a:blip r:embed="rId2"/>
          <a:stretch>
            <a:fillRect/>
          </a:stretch>
        </p:blipFill>
        <p:spPr>
          <a:xfrm>
            <a:off x="0" y="685800"/>
            <a:ext cx="11811000" cy="5943599"/>
          </a:xfrm>
        </p:spPr>
      </p:pic>
    </p:spTree>
    <p:extLst>
      <p:ext uri="{BB962C8B-B14F-4D97-AF65-F5344CB8AC3E}">
        <p14:creationId xmlns:p14="http://schemas.microsoft.com/office/powerpoint/2010/main" val="2631205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67FC-B6F5-4E7A-8607-639858EBBFB6}"/>
              </a:ext>
            </a:extLst>
          </p:cNvPr>
          <p:cNvSpPr>
            <a:spLocks noGrp="1"/>
          </p:cNvSpPr>
          <p:nvPr>
            <p:ph type="title"/>
          </p:nvPr>
        </p:nvSpPr>
        <p:spPr>
          <a:xfrm>
            <a:off x="0" y="0"/>
            <a:ext cx="12192000" cy="930275"/>
          </a:xfrm>
        </p:spPr>
        <p:txBody>
          <a:bodyPr/>
          <a:lstStyle/>
          <a:p>
            <a:r>
              <a:rPr lang="en-IN" dirty="0">
                <a:latin typeface="Times New Roman" panose="02020603050405020304" pitchFamily="18" charset="0"/>
                <a:cs typeface="Times New Roman" panose="02020603050405020304" pitchFamily="18" charset="0"/>
              </a:rPr>
              <a:t>Computation</a:t>
            </a:r>
          </a:p>
        </p:txBody>
      </p:sp>
      <p:sp>
        <p:nvSpPr>
          <p:cNvPr id="4" name="Slide Number Placeholder 3">
            <a:extLst>
              <a:ext uri="{FF2B5EF4-FFF2-40B4-BE49-F238E27FC236}">
                <a16:creationId xmlns:a16="http://schemas.microsoft.com/office/drawing/2014/main" id="{BC6661CF-F5B5-4B9A-9860-3555BB0BD290}"/>
              </a:ext>
            </a:extLst>
          </p:cNvPr>
          <p:cNvSpPr>
            <a:spLocks noGrp="1"/>
          </p:cNvSpPr>
          <p:nvPr>
            <p:ph type="sldNum" sz="quarter" idx="12"/>
          </p:nvPr>
        </p:nvSpPr>
        <p:spPr/>
        <p:txBody>
          <a:bodyPr/>
          <a:lstStyle/>
          <a:p>
            <a:pPr>
              <a:defRPr/>
            </a:pPr>
            <a:fld id="{A01CA5F2-CD08-4EF5-BAD9-872B7BB27165}" type="slidenum">
              <a:rPr lang="en-US" altLang="en-US" smtClean="0"/>
              <a:t>13</a:t>
            </a:fld>
            <a:endParaRPr lang="en-US" altLang="en-US"/>
          </a:p>
        </p:txBody>
      </p:sp>
      <p:pic>
        <p:nvPicPr>
          <p:cNvPr id="6" name="Content Placeholder 5">
            <a:extLst>
              <a:ext uri="{FF2B5EF4-FFF2-40B4-BE49-F238E27FC236}">
                <a16:creationId xmlns:a16="http://schemas.microsoft.com/office/drawing/2014/main" id="{C5E0A594-9CDD-4F0C-A1B8-4E74360BC9AA}"/>
              </a:ext>
            </a:extLst>
          </p:cNvPr>
          <p:cNvPicPr>
            <a:picLocks noGrp="1" noChangeAspect="1"/>
          </p:cNvPicPr>
          <p:nvPr>
            <p:ph idx="1"/>
          </p:nvPr>
        </p:nvPicPr>
        <p:blipFill>
          <a:blip r:embed="rId2"/>
          <a:stretch>
            <a:fillRect/>
          </a:stretch>
        </p:blipFill>
        <p:spPr>
          <a:xfrm>
            <a:off x="0" y="930274"/>
            <a:ext cx="12192000" cy="5927725"/>
          </a:xfrm>
        </p:spPr>
      </p:pic>
    </p:spTree>
    <p:extLst>
      <p:ext uri="{BB962C8B-B14F-4D97-AF65-F5344CB8AC3E}">
        <p14:creationId xmlns:p14="http://schemas.microsoft.com/office/powerpoint/2010/main" val="1527968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67FC-B6F5-4E7A-8607-639858EBBFB6}"/>
              </a:ext>
            </a:extLst>
          </p:cNvPr>
          <p:cNvSpPr>
            <a:spLocks noGrp="1"/>
          </p:cNvSpPr>
          <p:nvPr>
            <p:ph type="title"/>
          </p:nvPr>
        </p:nvSpPr>
        <p:spPr>
          <a:xfrm>
            <a:off x="0" y="0"/>
            <a:ext cx="12192000" cy="930275"/>
          </a:xfrm>
        </p:spPr>
        <p:txBody>
          <a:bodyPr/>
          <a:lstStyle/>
          <a:p>
            <a:r>
              <a:rPr lang="en-US" dirty="0">
                <a:latin typeface="Times New Roman" panose="02020603050405020304" pitchFamily="18" charset="0"/>
                <a:cs typeface="Times New Roman" panose="02020603050405020304" pitchFamily="18" charset="0"/>
              </a:rPr>
              <a:t>Automata </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C6661CF-F5B5-4B9A-9860-3555BB0BD290}"/>
              </a:ext>
            </a:extLst>
          </p:cNvPr>
          <p:cNvSpPr>
            <a:spLocks noGrp="1"/>
          </p:cNvSpPr>
          <p:nvPr>
            <p:ph type="sldNum" sz="quarter" idx="12"/>
          </p:nvPr>
        </p:nvSpPr>
        <p:spPr/>
        <p:txBody>
          <a:bodyPr/>
          <a:lstStyle/>
          <a:p>
            <a:pPr>
              <a:defRPr/>
            </a:pPr>
            <a:fld id="{A01CA5F2-CD08-4EF5-BAD9-872B7BB27165}" type="slidenum">
              <a:rPr lang="en-US" altLang="en-US" smtClean="0"/>
              <a:t>14</a:t>
            </a:fld>
            <a:endParaRPr lang="en-US" altLang="en-US"/>
          </a:p>
        </p:txBody>
      </p:sp>
      <p:sp>
        <p:nvSpPr>
          <p:cNvPr id="3" name="Content Placeholder 2">
            <a:extLst>
              <a:ext uri="{FF2B5EF4-FFF2-40B4-BE49-F238E27FC236}">
                <a16:creationId xmlns:a16="http://schemas.microsoft.com/office/drawing/2014/main" id="{93FB2CF9-EF82-44D4-B04E-C9652721873F}"/>
              </a:ext>
            </a:extLst>
          </p:cNvPr>
          <p:cNvSpPr>
            <a:spLocks noGrp="1"/>
          </p:cNvSpPr>
          <p:nvPr>
            <p:ph idx="1"/>
          </p:nvPr>
        </p:nvSpPr>
        <p:spPr>
          <a:xfrm>
            <a:off x="0" y="930276"/>
            <a:ext cx="12192000" cy="5927724"/>
          </a:xfrm>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F734B1BB-4C1B-4902-BABA-2AA956119A53}"/>
              </a:ext>
            </a:extLst>
          </p:cNvPr>
          <p:cNvPicPr>
            <a:picLocks noChangeAspect="1"/>
          </p:cNvPicPr>
          <p:nvPr/>
        </p:nvPicPr>
        <p:blipFill>
          <a:blip r:embed="rId2"/>
          <a:stretch>
            <a:fillRect/>
          </a:stretch>
        </p:blipFill>
        <p:spPr>
          <a:xfrm>
            <a:off x="2114205" y="880162"/>
            <a:ext cx="7963590" cy="4976291"/>
          </a:xfrm>
          <a:prstGeom prst="rect">
            <a:avLst/>
          </a:prstGeom>
        </p:spPr>
      </p:pic>
    </p:spTree>
    <p:extLst>
      <p:ext uri="{BB962C8B-B14F-4D97-AF65-F5344CB8AC3E}">
        <p14:creationId xmlns:p14="http://schemas.microsoft.com/office/powerpoint/2010/main" val="1179067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D4EDD4-3FA5-F90C-54C5-6807A7A94F98}"/>
              </a:ext>
            </a:extLst>
          </p:cNvPr>
          <p:cNvSpPr>
            <a:spLocks noGrp="1"/>
          </p:cNvSpPr>
          <p:nvPr>
            <p:ph type="sldNum" sz="quarter" idx="12"/>
          </p:nvPr>
        </p:nvSpPr>
        <p:spPr/>
        <p:txBody>
          <a:bodyPr/>
          <a:lstStyle/>
          <a:p>
            <a:pPr>
              <a:defRPr/>
            </a:pPr>
            <a:fld id="{5EDAE260-203A-48BA-B1E0-2820BBC6B005}" type="slidenum">
              <a:rPr lang="en-US" altLang="en-US" smtClean="0"/>
              <a:t>15</a:t>
            </a:fld>
            <a:endParaRPr lang="en-US" altLang="en-US"/>
          </a:p>
        </p:txBody>
      </p:sp>
      <p:sp>
        <p:nvSpPr>
          <p:cNvPr id="3" name="TextBox 2">
            <a:extLst>
              <a:ext uri="{FF2B5EF4-FFF2-40B4-BE49-F238E27FC236}">
                <a16:creationId xmlns:a16="http://schemas.microsoft.com/office/drawing/2014/main" id="{9491F72E-711F-6530-8100-FA0C60FA8F66}"/>
              </a:ext>
            </a:extLst>
          </p:cNvPr>
          <p:cNvSpPr txBox="1"/>
          <p:nvPr/>
        </p:nvSpPr>
        <p:spPr>
          <a:xfrm>
            <a:off x="914400" y="0"/>
            <a:ext cx="9753600" cy="6047809"/>
          </a:xfrm>
          <a:prstGeom prst="rect">
            <a:avLst/>
          </a:prstGeom>
          <a:noFill/>
        </p:spPr>
        <p:txBody>
          <a:bodyPr wrap="square" rtlCol="0">
            <a:spAutoFit/>
          </a:bodyPr>
          <a:lstStyle/>
          <a:p>
            <a:pPr marL="342900" indent="-342900">
              <a:lnSpc>
                <a:spcPct val="150000"/>
              </a:lnSpc>
              <a:buAutoNum type="arabicPeriod"/>
            </a:pPr>
            <a:r>
              <a:rPr lang="en-US" dirty="0"/>
              <a:t>Abstract model of digital computer</a:t>
            </a:r>
          </a:p>
          <a:p>
            <a:pPr marL="342900" indent="-342900">
              <a:lnSpc>
                <a:spcPct val="150000"/>
              </a:lnSpc>
              <a:buAutoNum type="arabicPeriod"/>
            </a:pPr>
            <a:r>
              <a:rPr lang="en-US" dirty="0"/>
              <a:t>Mechanism of reading input</a:t>
            </a:r>
          </a:p>
          <a:p>
            <a:pPr marL="342900" indent="-342900">
              <a:lnSpc>
                <a:spcPct val="150000"/>
              </a:lnSpc>
              <a:buAutoNum type="arabicPeriod"/>
            </a:pPr>
            <a:r>
              <a:rPr lang="en-US" dirty="0"/>
              <a:t>Assumes input as a string written on o input file</a:t>
            </a:r>
          </a:p>
          <a:p>
            <a:pPr marL="342900" indent="-342900">
              <a:lnSpc>
                <a:spcPct val="150000"/>
              </a:lnSpc>
              <a:buAutoNum type="arabicPeriod"/>
            </a:pPr>
            <a:r>
              <a:rPr lang="en-US" dirty="0"/>
              <a:t>Which automata can read but can't change.</a:t>
            </a:r>
          </a:p>
          <a:p>
            <a:pPr marL="342900" indent="-342900">
              <a:lnSpc>
                <a:spcPct val="150000"/>
              </a:lnSpc>
              <a:buAutoNum type="arabicPeriod"/>
            </a:pPr>
            <a:r>
              <a:rPr lang="en-US" dirty="0"/>
              <a:t>And input file is dived into cells </a:t>
            </a:r>
          </a:p>
          <a:p>
            <a:pPr marL="342900" indent="-342900">
              <a:lnSpc>
                <a:spcPct val="150000"/>
              </a:lnSpc>
              <a:buAutoNum type="arabicPeriod"/>
            </a:pPr>
            <a:r>
              <a:rPr lang="en-US" dirty="0"/>
              <a:t>Each cell can hold one symbol at a time</a:t>
            </a:r>
          </a:p>
          <a:p>
            <a:pPr marL="342900" indent="-342900">
              <a:lnSpc>
                <a:spcPct val="150000"/>
              </a:lnSpc>
              <a:buAutoNum type="arabicPeriod"/>
            </a:pPr>
            <a:r>
              <a:rPr lang="en-US" dirty="0"/>
              <a:t>Read input from left to right</a:t>
            </a:r>
          </a:p>
          <a:p>
            <a:pPr marL="342900" indent="-342900">
              <a:lnSpc>
                <a:spcPct val="150000"/>
              </a:lnSpc>
              <a:buAutoNum type="arabicPeriod"/>
            </a:pPr>
            <a:r>
              <a:rPr lang="en-US" dirty="0"/>
              <a:t>The automaton can produce output in any form which have temporary storage device.</a:t>
            </a:r>
          </a:p>
          <a:p>
            <a:pPr marL="342900" indent="-342900">
              <a:lnSpc>
                <a:spcPct val="150000"/>
              </a:lnSpc>
              <a:buAutoNum type="arabicPeriod"/>
            </a:pPr>
            <a:r>
              <a:rPr lang="en-US" dirty="0"/>
              <a:t>Consist of unlimited cells</a:t>
            </a:r>
          </a:p>
          <a:p>
            <a:pPr marL="342900" indent="-342900">
              <a:lnSpc>
                <a:spcPct val="150000"/>
              </a:lnSpc>
              <a:buAutoNum type="arabicPeriod"/>
            </a:pPr>
            <a:r>
              <a:rPr lang="en-US" dirty="0"/>
              <a:t>Each capable of holding one symbol at a time from an alphabet</a:t>
            </a:r>
          </a:p>
          <a:p>
            <a:pPr marL="342900" indent="-342900">
              <a:lnSpc>
                <a:spcPct val="150000"/>
              </a:lnSpc>
              <a:buAutoNum type="arabicPeriod"/>
            </a:pPr>
            <a:r>
              <a:rPr lang="en-US" dirty="0"/>
              <a:t>The automata can read the input and can make changes in storage part</a:t>
            </a:r>
          </a:p>
          <a:p>
            <a:pPr marL="342900" indent="-342900">
              <a:lnSpc>
                <a:spcPct val="150000"/>
              </a:lnSpc>
              <a:buAutoNum type="arabicPeriod"/>
            </a:pPr>
            <a:r>
              <a:rPr lang="en-US" dirty="0"/>
              <a:t>Finally, the control unit which can be in any of the finite number of states.</a:t>
            </a:r>
          </a:p>
          <a:p>
            <a:pPr marL="342900" indent="-342900">
              <a:lnSpc>
                <a:spcPct val="150000"/>
              </a:lnSpc>
              <a:buAutoNum type="arabicPeriod"/>
            </a:pPr>
            <a:r>
              <a:rPr lang="en-US" dirty="0"/>
              <a:t>Which can change states in any manner.</a:t>
            </a:r>
          </a:p>
          <a:p>
            <a:pPr marL="342900" indent="-342900">
              <a:buAutoNum type="arabicPeriod"/>
            </a:pPr>
            <a:endParaRPr lang="en-US" dirty="0"/>
          </a:p>
          <a:p>
            <a:pPr marL="342900" indent="-342900">
              <a:buAutoNum type="arabicPeriod"/>
            </a:pPr>
            <a:endParaRPr lang="en-US" dirty="0"/>
          </a:p>
        </p:txBody>
      </p:sp>
    </p:spTree>
    <p:extLst>
      <p:ext uri="{BB962C8B-B14F-4D97-AF65-F5344CB8AC3E}">
        <p14:creationId xmlns:p14="http://schemas.microsoft.com/office/powerpoint/2010/main" val="1912049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B8BAB-0230-40E7-86A6-862A10987FE5}"/>
              </a:ext>
            </a:extLst>
          </p:cNvPr>
          <p:cNvSpPr>
            <a:spLocks noGrp="1"/>
          </p:cNvSpPr>
          <p:nvPr>
            <p:ph type="title"/>
          </p:nvPr>
        </p:nvSpPr>
        <p:spPr>
          <a:xfrm>
            <a:off x="0" y="18255"/>
            <a:ext cx="12192000" cy="819945"/>
          </a:xfrm>
        </p:spPr>
        <p:txBody>
          <a:bodyPr/>
          <a:lstStyle/>
          <a:p>
            <a:r>
              <a:rPr lang="en-US" dirty="0">
                <a:latin typeface="Times New Roman" panose="02020603050405020304" pitchFamily="18" charset="0"/>
                <a:cs typeface="Times New Roman" panose="02020603050405020304" pitchFamily="18" charset="0"/>
              </a:rPr>
              <a:t>Different Kinds of Automata</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437944-C38E-4379-8FA6-D15569B42D27}"/>
              </a:ext>
            </a:extLst>
          </p:cNvPr>
          <p:cNvSpPr>
            <a:spLocks noGrp="1"/>
          </p:cNvSpPr>
          <p:nvPr>
            <p:ph idx="1"/>
          </p:nvPr>
        </p:nvSpPr>
        <p:spPr>
          <a:xfrm>
            <a:off x="0" y="838200"/>
            <a:ext cx="11353800" cy="5338763"/>
          </a:xfrm>
        </p:spPr>
        <p:txBody>
          <a:bodyPr/>
          <a:lstStyle/>
          <a:p>
            <a:pPr marL="0" indent="0">
              <a:lnSpc>
                <a:spcPct val="150000"/>
              </a:lnSpc>
              <a:buNone/>
            </a:pPr>
            <a:r>
              <a:rPr lang="en-US" dirty="0">
                <a:latin typeface="Times New Roman" panose="02020603050405020304" pitchFamily="18" charset="0"/>
                <a:cs typeface="Times New Roman" panose="02020603050405020304" pitchFamily="18" charset="0"/>
              </a:rPr>
              <a:t>Automata are distinguished by the temporary memory</a:t>
            </a:r>
          </a:p>
          <a:p>
            <a:pPr marL="0" indent="0">
              <a:lnSpc>
                <a:spcPct val="150000"/>
              </a:lnSpc>
              <a:buNone/>
            </a:pPr>
            <a:r>
              <a:rPr lang="en-US" dirty="0">
                <a:latin typeface="Times New Roman" panose="02020603050405020304" pitchFamily="18" charset="0"/>
                <a:cs typeface="Times New Roman" panose="02020603050405020304" pitchFamily="18" charset="0"/>
              </a:rPr>
              <a:t>•</a:t>
            </a:r>
            <a:r>
              <a:rPr lang="en-US" dirty="0">
                <a:solidFill>
                  <a:schemeClr val="accent1"/>
                </a:solidFill>
                <a:latin typeface="Times New Roman" panose="02020603050405020304" pitchFamily="18" charset="0"/>
                <a:cs typeface="Times New Roman" panose="02020603050405020304" pitchFamily="18" charset="0"/>
              </a:rPr>
              <a:t>Finite Automata</a:t>
            </a:r>
            <a:r>
              <a:rPr lang="en-US" dirty="0">
                <a:latin typeface="Times New Roman" panose="02020603050405020304" pitchFamily="18" charset="0"/>
                <a:cs typeface="Times New Roman" panose="02020603050405020304" pitchFamily="18" charset="0"/>
              </a:rPr>
              <a:t>                                    </a:t>
            </a:r>
            <a:r>
              <a:rPr lang="en-US" dirty="0">
                <a:solidFill>
                  <a:schemeClr val="accent1"/>
                </a:solidFill>
                <a:latin typeface="Times New Roman" panose="02020603050405020304" pitchFamily="18" charset="0"/>
                <a:cs typeface="Times New Roman" panose="02020603050405020304" pitchFamily="18" charset="0"/>
              </a:rPr>
              <a:t>no temporary memory</a:t>
            </a:r>
          </a:p>
          <a:p>
            <a:pPr marL="0" indent="0">
              <a:lnSpc>
                <a:spcPct val="150000"/>
              </a:lnSpc>
              <a:buNone/>
            </a:pPr>
            <a:r>
              <a:rPr lang="en-US" dirty="0">
                <a:latin typeface="Times New Roman" panose="02020603050405020304" pitchFamily="18" charset="0"/>
                <a:cs typeface="Times New Roman" panose="02020603050405020304" pitchFamily="18" charset="0"/>
              </a:rPr>
              <a:t>•</a:t>
            </a:r>
            <a:r>
              <a:rPr lang="en-US" dirty="0">
                <a:solidFill>
                  <a:schemeClr val="accent2">
                    <a:lumMod val="75000"/>
                  </a:schemeClr>
                </a:solidFill>
                <a:latin typeface="Times New Roman" panose="02020603050405020304" pitchFamily="18" charset="0"/>
                <a:cs typeface="Times New Roman" panose="02020603050405020304" pitchFamily="18" charset="0"/>
              </a:rPr>
              <a:t>Pushdown Automata                             stack</a:t>
            </a:r>
          </a:p>
          <a:p>
            <a:pPr marL="0" indent="0">
              <a:lnSpc>
                <a:spcPct val="150000"/>
              </a:lnSpc>
              <a:buNone/>
            </a:pPr>
            <a:r>
              <a:rPr lang="en-US" dirty="0">
                <a:latin typeface="Times New Roman" panose="02020603050405020304" pitchFamily="18" charset="0"/>
                <a:cs typeface="Times New Roman" panose="02020603050405020304" pitchFamily="18" charset="0"/>
              </a:rPr>
              <a:t>•</a:t>
            </a:r>
            <a:r>
              <a:rPr lang="en-US" dirty="0">
                <a:solidFill>
                  <a:schemeClr val="accent6">
                    <a:lumMod val="50000"/>
                  </a:schemeClr>
                </a:solidFill>
                <a:latin typeface="Times New Roman" panose="02020603050405020304" pitchFamily="18" charset="0"/>
                <a:cs typeface="Times New Roman" panose="02020603050405020304" pitchFamily="18" charset="0"/>
              </a:rPr>
              <a:t>Turing Machines                                   random access memory</a:t>
            </a:r>
            <a:endParaRPr lang="en-IN"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9B8A8ED-B181-45F1-8280-A17716287DC6}"/>
              </a:ext>
            </a:extLst>
          </p:cNvPr>
          <p:cNvSpPr>
            <a:spLocks noGrp="1"/>
          </p:cNvSpPr>
          <p:nvPr>
            <p:ph type="sldNum" sz="quarter" idx="12"/>
          </p:nvPr>
        </p:nvSpPr>
        <p:spPr/>
        <p:txBody>
          <a:bodyPr/>
          <a:lstStyle/>
          <a:p>
            <a:pPr>
              <a:defRPr/>
            </a:pPr>
            <a:fld id="{A01CA5F2-CD08-4EF5-BAD9-872B7BB27165}" type="slidenum">
              <a:rPr lang="en-US" altLang="en-US" smtClean="0"/>
              <a:t>16</a:t>
            </a:fld>
            <a:endParaRPr lang="en-US" altLang="en-US"/>
          </a:p>
        </p:txBody>
      </p:sp>
    </p:spTree>
    <p:extLst>
      <p:ext uri="{BB962C8B-B14F-4D97-AF65-F5344CB8AC3E}">
        <p14:creationId xmlns:p14="http://schemas.microsoft.com/office/powerpoint/2010/main" val="3855485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B8BAB-0230-40E7-86A6-862A10987FE5}"/>
              </a:ext>
            </a:extLst>
          </p:cNvPr>
          <p:cNvSpPr>
            <a:spLocks noGrp="1"/>
          </p:cNvSpPr>
          <p:nvPr>
            <p:ph type="title"/>
          </p:nvPr>
        </p:nvSpPr>
        <p:spPr>
          <a:xfrm>
            <a:off x="0" y="18255"/>
            <a:ext cx="12192000" cy="819945"/>
          </a:xfrm>
        </p:spPr>
        <p:txBody>
          <a:bodyPr/>
          <a:lstStyle/>
          <a:p>
            <a:r>
              <a:rPr lang="en-US" dirty="0">
                <a:latin typeface="Times New Roman" panose="02020603050405020304" pitchFamily="18" charset="0"/>
                <a:cs typeface="Times New Roman" panose="02020603050405020304" pitchFamily="18" charset="0"/>
              </a:rPr>
              <a:t>Finite Automata</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437944-C38E-4379-8FA6-D15569B42D27}"/>
              </a:ext>
            </a:extLst>
          </p:cNvPr>
          <p:cNvSpPr>
            <a:spLocks noGrp="1"/>
          </p:cNvSpPr>
          <p:nvPr>
            <p:ph idx="1"/>
          </p:nvPr>
        </p:nvSpPr>
        <p:spPr>
          <a:xfrm>
            <a:off x="0" y="838200"/>
            <a:ext cx="11353800" cy="5338763"/>
          </a:xfrm>
        </p:spPr>
        <p:txBody>
          <a:bodyPr/>
          <a:lstStyle/>
          <a:p>
            <a:pPr marL="0" indent="0">
              <a:lnSpc>
                <a:spcPct val="150000"/>
              </a:lnSpc>
              <a:spcBef>
                <a:spcPts val="0"/>
              </a:spcBef>
              <a:buNone/>
            </a:pPr>
            <a:r>
              <a:rPr lang="en-US" dirty="0">
                <a:latin typeface="Times New Roman" panose="02020603050405020304" pitchFamily="18" charset="0"/>
                <a:cs typeface="Times New Roman" panose="02020603050405020304" pitchFamily="18" charset="0"/>
              </a:rPr>
              <a:t>Finite Automata is the simplest computational machine.</a:t>
            </a:r>
          </a:p>
          <a:p>
            <a:pPr marL="0" indent="0">
              <a:lnSpc>
                <a:spcPct val="150000"/>
              </a:lnSpc>
              <a:spcBef>
                <a:spcPts val="0"/>
              </a:spcBef>
              <a:buNone/>
            </a:pPr>
            <a:r>
              <a:rPr lang="en-US" dirty="0">
                <a:latin typeface="Times New Roman" panose="02020603050405020304" pitchFamily="18" charset="0"/>
                <a:cs typeface="Times New Roman" panose="02020603050405020304" pitchFamily="18" charset="0"/>
              </a:rPr>
              <a:t>It has:</a:t>
            </a:r>
          </a:p>
          <a:p>
            <a:pPr marL="0" indent="0">
              <a:lnSpc>
                <a:spcPct val="150000"/>
              </a:lnSpc>
              <a:spcBef>
                <a:spcPts val="0"/>
              </a:spcBef>
              <a:buNone/>
            </a:pPr>
            <a:r>
              <a:rPr lang="en-US" dirty="0">
                <a:latin typeface="Times New Roman" panose="02020603050405020304" pitchFamily="18" charset="0"/>
                <a:cs typeface="Times New Roman" panose="02020603050405020304" pitchFamily="18" charset="0"/>
              </a:rPr>
              <a:t>	states</a:t>
            </a:r>
          </a:p>
          <a:p>
            <a:pPr marL="0" indent="0">
              <a:lnSpc>
                <a:spcPct val="150000"/>
              </a:lnSpc>
              <a:spcBef>
                <a:spcPts val="0"/>
              </a:spcBef>
              <a:buNone/>
            </a:pPr>
            <a:r>
              <a:rPr lang="en-US" dirty="0">
                <a:latin typeface="Times New Roman" panose="02020603050405020304" pitchFamily="18" charset="0"/>
                <a:cs typeface="Times New Roman" panose="02020603050405020304" pitchFamily="18" charset="0"/>
              </a:rPr>
              <a:t>	transitions</a:t>
            </a:r>
          </a:p>
          <a:p>
            <a:pPr marL="0" indent="0">
              <a:lnSpc>
                <a:spcPct val="150000"/>
              </a:lnSpc>
              <a:spcBef>
                <a:spcPts val="0"/>
              </a:spcBef>
              <a:buNone/>
            </a:pPr>
            <a:r>
              <a:rPr lang="en-US" dirty="0">
                <a:latin typeface="Times New Roman" panose="02020603050405020304" pitchFamily="18" charset="0"/>
                <a:cs typeface="Times New Roman" panose="02020603050405020304" pitchFamily="18" charset="0"/>
              </a:rPr>
              <a:t>	input symbols</a:t>
            </a:r>
          </a:p>
          <a:p>
            <a:pPr marL="0" indent="0">
              <a:lnSpc>
                <a:spcPct val="150000"/>
              </a:lnSpc>
              <a:spcBef>
                <a:spcPts val="0"/>
              </a:spcBef>
              <a:buNone/>
            </a:pPr>
            <a:r>
              <a:rPr lang="en-US" dirty="0">
                <a:latin typeface="Times New Roman" panose="02020603050405020304" pitchFamily="18" charset="0"/>
                <a:cs typeface="Times New Roman" panose="02020603050405020304" pitchFamily="18" charset="0"/>
              </a:rPr>
              <a:t>	accepting states</a:t>
            </a:r>
          </a:p>
          <a:p>
            <a:pPr marL="0" indent="0">
              <a:lnSpc>
                <a:spcPct val="150000"/>
              </a:lnSpc>
              <a:spcBef>
                <a:spcPts val="0"/>
              </a:spcBef>
              <a:buNone/>
            </a:pPr>
            <a:r>
              <a:rPr lang="en-US" dirty="0">
                <a:latin typeface="Times New Roman" panose="02020603050405020304" pitchFamily="18" charset="0"/>
                <a:cs typeface="Times New Roman" panose="02020603050405020304" pitchFamily="18" charset="0"/>
              </a:rPr>
              <a:t>No memory.</a:t>
            </a:r>
          </a:p>
        </p:txBody>
      </p:sp>
      <p:sp>
        <p:nvSpPr>
          <p:cNvPr id="4" name="Slide Number Placeholder 3">
            <a:extLst>
              <a:ext uri="{FF2B5EF4-FFF2-40B4-BE49-F238E27FC236}">
                <a16:creationId xmlns:a16="http://schemas.microsoft.com/office/drawing/2014/main" id="{19B8A8ED-B181-45F1-8280-A17716287DC6}"/>
              </a:ext>
            </a:extLst>
          </p:cNvPr>
          <p:cNvSpPr>
            <a:spLocks noGrp="1"/>
          </p:cNvSpPr>
          <p:nvPr>
            <p:ph type="sldNum" sz="quarter" idx="12"/>
          </p:nvPr>
        </p:nvSpPr>
        <p:spPr/>
        <p:txBody>
          <a:bodyPr/>
          <a:lstStyle/>
          <a:p>
            <a:pPr>
              <a:defRPr/>
            </a:pPr>
            <a:fld id="{A01CA5F2-CD08-4EF5-BAD9-872B7BB27165}" type="slidenum">
              <a:rPr lang="en-US" altLang="en-US" smtClean="0"/>
              <a:t>17</a:t>
            </a:fld>
            <a:endParaRPr lang="en-US" altLang="en-US"/>
          </a:p>
        </p:txBody>
      </p:sp>
      <p:pic>
        <p:nvPicPr>
          <p:cNvPr id="5" name="Picture 4">
            <a:extLst>
              <a:ext uri="{FF2B5EF4-FFF2-40B4-BE49-F238E27FC236}">
                <a16:creationId xmlns:a16="http://schemas.microsoft.com/office/drawing/2014/main" id="{2B71B262-294F-4804-93C7-98B1427CD002}"/>
              </a:ext>
            </a:extLst>
          </p:cNvPr>
          <p:cNvPicPr>
            <a:picLocks noChangeAspect="1"/>
          </p:cNvPicPr>
          <p:nvPr/>
        </p:nvPicPr>
        <p:blipFill>
          <a:blip r:embed="rId2"/>
          <a:stretch>
            <a:fillRect/>
          </a:stretch>
        </p:blipFill>
        <p:spPr>
          <a:xfrm>
            <a:off x="4876800" y="1855211"/>
            <a:ext cx="6950042" cy="3304741"/>
          </a:xfrm>
          <a:prstGeom prst="rect">
            <a:avLst/>
          </a:prstGeom>
        </p:spPr>
      </p:pic>
    </p:spTree>
    <p:extLst>
      <p:ext uri="{BB962C8B-B14F-4D97-AF65-F5344CB8AC3E}">
        <p14:creationId xmlns:p14="http://schemas.microsoft.com/office/powerpoint/2010/main" val="2910348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67FC-B6F5-4E7A-8607-639858EBBFB6}"/>
              </a:ext>
            </a:extLst>
          </p:cNvPr>
          <p:cNvSpPr>
            <a:spLocks noGrp="1"/>
          </p:cNvSpPr>
          <p:nvPr>
            <p:ph type="title"/>
          </p:nvPr>
        </p:nvSpPr>
        <p:spPr>
          <a:xfrm>
            <a:off x="0" y="0"/>
            <a:ext cx="12192000" cy="930275"/>
          </a:xfrm>
        </p:spPr>
        <p:txBody>
          <a:bodyPr/>
          <a:lstStyle/>
          <a:p>
            <a:r>
              <a:rPr lang="en-US" dirty="0">
                <a:latin typeface="Times New Roman" panose="02020603050405020304" pitchFamily="18" charset="0"/>
                <a:cs typeface="Times New Roman" panose="02020603050405020304" pitchFamily="18" charset="0"/>
              </a:rPr>
              <a:t>Finite Automata </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C6661CF-F5B5-4B9A-9860-3555BB0BD290}"/>
              </a:ext>
            </a:extLst>
          </p:cNvPr>
          <p:cNvSpPr>
            <a:spLocks noGrp="1"/>
          </p:cNvSpPr>
          <p:nvPr>
            <p:ph type="sldNum" sz="quarter" idx="12"/>
          </p:nvPr>
        </p:nvSpPr>
        <p:spPr/>
        <p:txBody>
          <a:bodyPr/>
          <a:lstStyle/>
          <a:p>
            <a:pPr>
              <a:defRPr/>
            </a:pPr>
            <a:fld id="{A01CA5F2-CD08-4EF5-BAD9-872B7BB27165}" type="slidenum">
              <a:rPr lang="en-US" altLang="en-US" smtClean="0"/>
              <a:t>18</a:t>
            </a:fld>
            <a:endParaRPr lang="en-US" altLang="en-US"/>
          </a:p>
        </p:txBody>
      </p:sp>
      <p:sp>
        <p:nvSpPr>
          <p:cNvPr id="3" name="Content Placeholder 2">
            <a:extLst>
              <a:ext uri="{FF2B5EF4-FFF2-40B4-BE49-F238E27FC236}">
                <a16:creationId xmlns:a16="http://schemas.microsoft.com/office/drawing/2014/main" id="{93FB2CF9-EF82-44D4-B04E-C9652721873F}"/>
              </a:ext>
            </a:extLst>
          </p:cNvPr>
          <p:cNvSpPr>
            <a:spLocks noGrp="1"/>
          </p:cNvSpPr>
          <p:nvPr>
            <p:ph idx="1"/>
          </p:nvPr>
        </p:nvSpPr>
        <p:spPr>
          <a:xfrm>
            <a:off x="0" y="930276"/>
            <a:ext cx="12192000" cy="5927724"/>
          </a:xfrm>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7013B2BD-0E19-4EA8-9DCE-C5DA21C1C03B}"/>
              </a:ext>
            </a:extLst>
          </p:cNvPr>
          <p:cNvPicPr>
            <a:picLocks noChangeAspect="1"/>
          </p:cNvPicPr>
          <p:nvPr/>
        </p:nvPicPr>
        <p:blipFill>
          <a:blip r:embed="rId2"/>
          <a:stretch>
            <a:fillRect/>
          </a:stretch>
        </p:blipFill>
        <p:spPr>
          <a:xfrm>
            <a:off x="1843671" y="1066800"/>
            <a:ext cx="8504657" cy="4077053"/>
          </a:xfrm>
          <a:prstGeom prst="rect">
            <a:avLst/>
          </a:prstGeom>
        </p:spPr>
      </p:pic>
    </p:spTree>
    <p:extLst>
      <p:ext uri="{BB962C8B-B14F-4D97-AF65-F5344CB8AC3E}">
        <p14:creationId xmlns:p14="http://schemas.microsoft.com/office/powerpoint/2010/main" val="7383812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67FC-B6F5-4E7A-8607-639858EBBFB6}"/>
              </a:ext>
            </a:extLst>
          </p:cNvPr>
          <p:cNvSpPr>
            <a:spLocks noGrp="1"/>
          </p:cNvSpPr>
          <p:nvPr>
            <p:ph type="title"/>
          </p:nvPr>
        </p:nvSpPr>
        <p:spPr>
          <a:xfrm>
            <a:off x="0" y="0"/>
            <a:ext cx="12192000" cy="930275"/>
          </a:xfrm>
        </p:spPr>
        <p:txBody>
          <a:bodyPr/>
          <a:lstStyle/>
          <a:p>
            <a:r>
              <a:rPr lang="en-US" dirty="0">
                <a:latin typeface="Times New Roman" panose="02020603050405020304" pitchFamily="18" charset="0"/>
                <a:cs typeface="Times New Roman" panose="02020603050405020304" pitchFamily="18" charset="0"/>
              </a:rPr>
              <a:t>Push Down Automata </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C6661CF-F5B5-4B9A-9860-3555BB0BD290}"/>
              </a:ext>
            </a:extLst>
          </p:cNvPr>
          <p:cNvSpPr>
            <a:spLocks noGrp="1"/>
          </p:cNvSpPr>
          <p:nvPr>
            <p:ph type="sldNum" sz="quarter" idx="12"/>
          </p:nvPr>
        </p:nvSpPr>
        <p:spPr/>
        <p:txBody>
          <a:bodyPr/>
          <a:lstStyle/>
          <a:p>
            <a:pPr>
              <a:defRPr/>
            </a:pPr>
            <a:fld id="{A01CA5F2-CD08-4EF5-BAD9-872B7BB27165}" type="slidenum">
              <a:rPr lang="en-US" altLang="en-US" smtClean="0"/>
              <a:t>19</a:t>
            </a:fld>
            <a:endParaRPr lang="en-US" altLang="en-US"/>
          </a:p>
        </p:txBody>
      </p:sp>
      <p:sp>
        <p:nvSpPr>
          <p:cNvPr id="3" name="Content Placeholder 2">
            <a:extLst>
              <a:ext uri="{FF2B5EF4-FFF2-40B4-BE49-F238E27FC236}">
                <a16:creationId xmlns:a16="http://schemas.microsoft.com/office/drawing/2014/main" id="{93FB2CF9-EF82-44D4-B04E-C9652721873F}"/>
              </a:ext>
            </a:extLst>
          </p:cNvPr>
          <p:cNvSpPr>
            <a:spLocks noGrp="1"/>
          </p:cNvSpPr>
          <p:nvPr>
            <p:ph idx="1"/>
          </p:nvPr>
        </p:nvSpPr>
        <p:spPr>
          <a:xfrm>
            <a:off x="0" y="930276"/>
            <a:ext cx="12192000" cy="5927724"/>
          </a:xfrm>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D29C7CD-5875-4383-9932-C29F45CBD51C}"/>
              </a:ext>
            </a:extLst>
          </p:cNvPr>
          <p:cNvPicPr>
            <a:picLocks noChangeAspect="1"/>
          </p:cNvPicPr>
          <p:nvPr/>
        </p:nvPicPr>
        <p:blipFill>
          <a:blip r:embed="rId2"/>
          <a:stretch>
            <a:fillRect/>
          </a:stretch>
        </p:blipFill>
        <p:spPr>
          <a:xfrm>
            <a:off x="1143000" y="990600"/>
            <a:ext cx="8474174" cy="4686706"/>
          </a:xfrm>
          <a:prstGeom prst="rect">
            <a:avLst/>
          </a:prstGeom>
        </p:spPr>
      </p:pic>
    </p:spTree>
    <p:extLst>
      <p:ext uri="{BB962C8B-B14F-4D97-AF65-F5344CB8AC3E}">
        <p14:creationId xmlns:p14="http://schemas.microsoft.com/office/powerpoint/2010/main" val="3596267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A0460-B0B2-4706-A3AF-9FBF7E13C829}"/>
              </a:ext>
            </a:extLst>
          </p:cNvPr>
          <p:cNvSpPr>
            <a:spLocks noGrp="1"/>
          </p:cNvSpPr>
          <p:nvPr>
            <p:ph type="title"/>
          </p:nvPr>
        </p:nvSpPr>
        <p:spPr>
          <a:xfrm>
            <a:off x="0" y="18255"/>
            <a:ext cx="10515600" cy="896145"/>
          </a:xfrm>
        </p:spPr>
        <p:txBody>
          <a:bodyPr/>
          <a:lstStyle/>
          <a:p>
            <a:r>
              <a:rPr lang="en-US" dirty="0">
                <a:latin typeface="Times New Roman" panose="02020603050405020304" pitchFamily="18" charset="0"/>
                <a:cs typeface="Times New Roman" panose="02020603050405020304" pitchFamily="18" charset="0"/>
              </a:rPr>
              <a:t>Turing Machine </a:t>
            </a:r>
            <a:endParaRPr lang="en-IN" dirty="0"/>
          </a:p>
        </p:txBody>
      </p:sp>
      <p:sp>
        <p:nvSpPr>
          <p:cNvPr id="3" name="Content Placeholder 2">
            <a:extLst>
              <a:ext uri="{FF2B5EF4-FFF2-40B4-BE49-F238E27FC236}">
                <a16:creationId xmlns:a16="http://schemas.microsoft.com/office/drawing/2014/main" id="{640347EC-6754-4450-A278-2841C36ECD78}"/>
              </a:ext>
            </a:extLst>
          </p:cNvPr>
          <p:cNvSpPr>
            <a:spLocks noGrp="1"/>
          </p:cNvSpPr>
          <p:nvPr>
            <p:ph idx="1"/>
          </p:nvPr>
        </p:nvSpPr>
        <p:spPr>
          <a:xfrm>
            <a:off x="0" y="914401"/>
            <a:ext cx="12192000" cy="4800600"/>
          </a:xfrm>
        </p:spPr>
        <p:txBody>
          <a:bodyPr/>
          <a:lstStyle/>
          <a:p>
            <a:pPr>
              <a:lnSpc>
                <a:spcPct val="150000"/>
              </a:lnSpc>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Turing Machine</a:t>
            </a:r>
            <a:r>
              <a:rPr lang="en-US" dirty="0">
                <a:latin typeface="Times New Roman" panose="02020603050405020304" pitchFamily="18" charset="0"/>
                <a:cs typeface="Times New Roman" panose="02020603050405020304" pitchFamily="18" charset="0"/>
              </a:rPr>
              <a:t> provides an idealized model with unlimited tape and is considered the most powerful classical model of computation.</a:t>
            </a:r>
          </a:p>
          <a:p>
            <a:pPr>
              <a:lnSpc>
                <a:spcPct val="150000"/>
              </a:lnSpc>
            </a:pPr>
            <a:r>
              <a:rPr lang="en-US" dirty="0">
                <a:latin typeface="Times New Roman" panose="02020603050405020304" pitchFamily="18" charset="0"/>
                <a:cs typeface="Times New Roman" panose="02020603050405020304" pitchFamily="18" charset="0"/>
              </a:rPr>
              <a:t>Modern computers are not literally Turing Machines, but they are </a:t>
            </a:r>
            <a:r>
              <a:rPr lang="en-US" b="1" dirty="0">
                <a:latin typeface="Times New Roman" panose="02020603050405020304" pitchFamily="18" charset="0"/>
                <a:cs typeface="Times New Roman" panose="02020603050405020304" pitchFamily="18" charset="0"/>
              </a:rPr>
              <a:t>Turing-complete</a:t>
            </a:r>
            <a:r>
              <a:rPr lang="en-US" dirty="0">
                <a:latin typeface="Times New Roman" panose="02020603050405020304" pitchFamily="18" charset="0"/>
                <a:cs typeface="Times New Roman" panose="02020603050405020304" pitchFamily="18" charset="0"/>
              </a:rPr>
              <a:t>, meaning they can simulate a Turing Machine given enough time and memory.</a:t>
            </a:r>
          </a:p>
          <a:p>
            <a:pPr>
              <a:lnSpc>
                <a:spcPct val="150000"/>
              </a:lnSpc>
            </a:pPr>
            <a:r>
              <a:rPr lang="en-US" b="1" dirty="0">
                <a:latin typeface="Times New Roman" panose="02020603050405020304" pitchFamily="18" charset="0"/>
                <a:cs typeface="Times New Roman" panose="02020603050405020304" pitchFamily="18" charset="0"/>
              </a:rPr>
              <a:t>Modern computers and smartphones are more complex </a:t>
            </a:r>
            <a:r>
              <a:rPr lang="en-US" dirty="0">
                <a:latin typeface="Times New Roman" panose="02020603050405020304" pitchFamily="18" charset="0"/>
                <a:cs typeface="Times New Roman" panose="02020603050405020304" pitchFamily="18" charset="0"/>
              </a:rPr>
              <a:t>than finite automata, but they are built on principles explained by computational models</a:t>
            </a:r>
          </a:p>
          <a:p>
            <a:pPr marL="0" indent="0">
              <a:buNone/>
            </a:pPr>
            <a:endParaRPr lang="en-IN" dirty="0"/>
          </a:p>
        </p:txBody>
      </p:sp>
      <p:sp>
        <p:nvSpPr>
          <p:cNvPr id="4" name="Slide Number Placeholder 3">
            <a:extLst>
              <a:ext uri="{FF2B5EF4-FFF2-40B4-BE49-F238E27FC236}">
                <a16:creationId xmlns:a16="http://schemas.microsoft.com/office/drawing/2014/main" id="{A1776312-6B17-4852-9A5C-BF120BB4A11D}"/>
              </a:ext>
            </a:extLst>
          </p:cNvPr>
          <p:cNvSpPr>
            <a:spLocks noGrp="1"/>
          </p:cNvSpPr>
          <p:nvPr>
            <p:ph type="sldNum" sz="quarter" idx="12"/>
          </p:nvPr>
        </p:nvSpPr>
        <p:spPr/>
        <p:txBody>
          <a:bodyPr/>
          <a:lstStyle/>
          <a:p>
            <a:pPr>
              <a:defRPr/>
            </a:pPr>
            <a:fld id="{A01CA5F2-CD08-4EF5-BAD9-872B7BB27165}" type="slidenum">
              <a:rPr lang="en-US" altLang="en-US" smtClean="0"/>
              <a:t>20</a:t>
            </a:fld>
            <a:endParaRPr lang="en-US" altLang="en-US"/>
          </a:p>
        </p:txBody>
      </p:sp>
    </p:spTree>
    <p:extLst>
      <p:ext uri="{BB962C8B-B14F-4D97-AF65-F5344CB8AC3E}">
        <p14:creationId xmlns:p14="http://schemas.microsoft.com/office/powerpoint/2010/main" val="967220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67FC-B6F5-4E7A-8607-639858EBBFB6}"/>
              </a:ext>
            </a:extLst>
          </p:cNvPr>
          <p:cNvSpPr>
            <a:spLocks noGrp="1"/>
          </p:cNvSpPr>
          <p:nvPr>
            <p:ph type="title"/>
          </p:nvPr>
        </p:nvSpPr>
        <p:spPr>
          <a:xfrm>
            <a:off x="0" y="0"/>
            <a:ext cx="12192000" cy="930275"/>
          </a:xfrm>
        </p:spPr>
        <p:txBody>
          <a:bodyPr/>
          <a:lstStyle/>
          <a:p>
            <a:r>
              <a:rPr lang="en-US" dirty="0">
                <a:latin typeface="Times New Roman" panose="02020603050405020304" pitchFamily="18" charset="0"/>
                <a:cs typeface="Times New Roman" panose="02020603050405020304" pitchFamily="18" charset="0"/>
              </a:rPr>
              <a:t>Turing Machine </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C6661CF-F5B5-4B9A-9860-3555BB0BD290}"/>
              </a:ext>
            </a:extLst>
          </p:cNvPr>
          <p:cNvSpPr>
            <a:spLocks noGrp="1"/>
          </p:cNvSpPr>
          <p:nvPr>
            <p:ph type="sldNum" sz="quarter" idx="12"/>
          </p:nvPr>
        </p:nvSpPr>
        <p:spPr/>
        <p:txBody>
          <a:bodyPr/>
          <a:lstStyle/>
          <a:p>
            <a:pPr>
              <a:defRPr/>
            </a:pPr>
            <a:fld id="{A01CA5F2-CD08-4EF5-BAD9-872B7BB27165}" type="slidenum">
              <a:rPr lang="en-US" altLang="en-US" smtClean="0"/>
              <a:t>21</a:t>
            </a:fld>
            <a:endParaRPr lang="en-US" altLang="en-US"/>
          </a:p>
        </p:txBody>
      </p:sp>
      <p:sp>
        <p:nvSpPr>
          <p:cNvPr id="3" name="Content Placeholder 2">
            <a:extLst>
              <a:ext uri="{FF2B5EF4-FFF2-40B4-BE49-F238E27FC236}">
                <a16:creationId xmlns:a16="http://schemas.microsoft.com/office/drawing/2014/main" id="{93FB2CF9-EF82-44D4-B04E-C9652721873F}"/>
              </a:ext>
            </a:extLst>
          </p:cNvPr>
          <p:cNvSpPr>
            <a:spLocks noGrp="1"/>
          </p:cNvSpPr>
          <p:nvPr>
            <p:ph idx="1"/>
          </p:nvPr>
        </p:nvSpPr>
        <p:spPr>
          <a:xfrm>
            <a:off x="0" y="930276"/>
            <a:ext cx="12192000" cy="5927724"/>
          </a:xfrm>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1C09C63-5614-4AED-91FD-F743795D4F4A}"/>
              </a:ext>
            </a:extLst>
          </p:cNvPr>
          <p:cNvPicPr>
            <a:picLocks noChangeAspect="1"/>
          </p:cNvPicPr>
          <p:nvPr/>
        </p:nvPicPr>
        <p:blipFill>
          <a:blip r:embed="rId2"/>
          <a:stretch>
            <a:fillRect/>
          </a:stretch>
        </p:blipFill>
        <p:spPr>
          <a:xfrm>
            <a:off x="1447800" y="984880"/>
            <a:ext cx="8695173" cy="3848433"/>
          </a:xfrm>
          <a:prstGeom prst="rect">
            <a:avLst/>
          </a:prstGeom>
        </p:spPr>
      </p:pic>
    </p:spTree>
    <p:extLst>
      <p:ext uri="{BB962C8B-B14F-4D97-AF65-F5344CB8AC3E}">
        <p14:creationId xmlns:p14="http://schemas.microsoft.com/office/powerpoint/2010/main" val="2113210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67FC-B6F5-4E7A-8607-639858EBBFB6}"/>
              </a:ext>
            </a:extLst>
          </p:cNvPr>
          <p:cNvSpPr>
            <a:spLocks noGrp="1"/>
          </p:cNvSpPr>
          <p:nvPr>
            <p:ph type="title"/>
          </p:nvPr>
        </p:nvSpPr>
        <p:spPr>
          <a:xfrm>
            <a:off x="0" y="0"/>
            <a:ext cx="12192000" cy="930275"/>
          </a:xfrm>
        </p:spPr>
        <p:txBody>
          <a:bodyPr/>
          <a:lstStyle/>
          <a:p>
            <a:r>
              <a:rPr lang="en-US" dirty="0">
                <a:latin typeface="Times New Roman" panose="02020603050405020304" pitchFamily="18" charset="0"/>
                <a:cs typeface="Times New Roman" panose="02020603050405020304" pitchFamily="18" charset="0"/>
              </a:rPr>
              <a:t>Power of Automata</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C6661CF-F5B5-4B9A-9860-3555BB0BD290}"/>
              </a:ext>
            </a:extLst>
          </p:cNvPr>
          <p:cNvSpPr>
            <a:spLocks noGrp="1"/>
          </p:cNvSpPr>
          <p:nvPr>
            <p:ph type="sldNum" sz="quarter" idx="12"/>
          </p:nvPr>
        </p:nvSpPr>
        <p:spPr/>
        <p:txBody>
          <a:bodyPr/>
          <a:lstStyle/>
          <a:p>
            <a:pPr>
              <a:defRPr/>
            </a:pPr>
            <a:fld id="{A01CA5F2-CD08-4EF5-BAD9-872B7BB27165}" type="slidenum">
              <a:rPr lang="en-US" altLang="en-US" smtClean="0"/>
              <a:t>22</a:t>
            </a:fld>
            <a:endParaRPr lang="en-US" altLang="en-US"/>
          </a:p>
        </p:txBody>
      </p:sp>
      <p:sp>
        <p:nvSpPr>
          <p:cNvPr id="3" name="Content Placeholder 2">
            <a:extLst>
              <a:ext uri="{FF2B5EF4-FFF2-40B4-BE49-F238E27FC236}">
                <a16:creationId xmlns:a16="http://schemas.microsoft.com/office/drawing/2014/main" id="{93FB2CF9-EF82-44D4-B04E-C9652721873F}"/>
              </a:ext>
            </a:extLst>
          </p:cNvPr>
          <p:cNvSpPr>
            <a:spLocks noGrp="1"/>
          </p:cNvSpPr>
          <p:nvPr>
            <p:ph idx="1"/>
          </p:nvPr>
        </p:nvSpPr>
        <p:spPr>
          <a:xfrm>
            <a:off x="0" y="930276"/>
            <a:ext cx="12192000" cy="5927724"/>
          </a:xfrm>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2EF6AF4-A324-4969-8E31-9E04B391F2D2}"/>
              </a:ext>
            </a:extLst>
          </p:cNvPr>
          <p:cNvPicPr>
            <a:picLocks noChangeAspect="1"/>
          </p:cNvPicPr>
          <p:nvPr/>
        </p:nvPicPr>
        <p:blipFill>
          <a:blip r:embed="rId2"/>
          <a:stretch>
            <a:fillRect/>
          </a:stretch>
        </p:blipFill>
        <p:spPr>
          <a:xfrm>
            <a:off x="1676400" y="1752600"/>
            <a:ext cx="8504657" cy="2987299"/>
          </a:xfrm>
          <a:prstGeom prst="rect">
            <a:avLst/>
          </a:prstGeom>
        </p:spPr>
      </p:pic>
    </p:spTree>
    <p:extLst>
      <p:ext uri="{BB962C8B-B14F-4D97-AF65-F5344CB8AC3E}">
        <p14:creationId xmlns:p14="http://schemas.microsoft.com/office/powerpoint/2010/main" val="26048821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r>
              <a:rPr lang="en-IN" dirty="0">
                <a:latin typeface="Times New Roman" panose="02020603050405020304" pitchFamily="18" charset="0"/>
                <a:cs typeface="Times New Roman" panose="02020603050405020304" pitchFamily="18" charset="0"/>
              </a:rPr>
              <a:t>Application of Finite Automata</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a:spcBef>
                <a:spcPts val="1800"/>
              </a:spcBef>
            </a:pPr>
            <a:r>
              <a:rPr lang="en-US" dirty="0">
                <a:latin typeface="Times New Roman" panose="02020603050405020304" pitchFamily="18" charset="0"/>
                <a:cs typeface="Times New Roman" panose="02020603050405020304" pitchFamily="18" charset="0"/>
              </a:rPr>
              <a:t>For the designing of lexical analysis of a compiler which breaks the input text into logical units like identifiers, keywords, etc.</a:t>
            </a:r>
          </a:p>
          <a:p>
            <a:pPr>
              <a:spcBef>
                <a:spcPts val="1800"/>
              </a:spcBef>
            </a:pPr>
            <a:r>
              <a:rPr lang="en-US" dirty="0">
                <a:latin typeface="Times New Roman" panose="02020603050405020304" pitchFamily="18" charset="0"/>
                <a:cs typeface="Times New Roman" panose="02020603050405020304" pitchFamily="18" charset="0"/>
              </a:rPr>
              <a:t>For recognizing the pattern using regular expressions.</a:t>
            </a:r>
          </a:p>
          <a:p>
            <a:pPr>
              <a:spcBef>
                <a:spcPts val="1800"/>
              </a:spcBef>
            </a:pPr>
            <a:r>
              <a:rPr lang="en-US" dirty="0">
                <a:latin typeface="Times New Roman" panose="02020603050405020304" pitchFamily="18" charset="0"/>
                <a:cs typeface="Times New Roman" panose="02020603050405020304" pitchFamily="18" charset="0"/>
              </a:rPr>
              <a:t>For the designing of the combination and sequential circuits.</a:t>
            </a:r>
          </a:p>
          <a:p>
            <a:pPr>
              <a:spcBef>
                <a:spcPts val="1800"/>
              </a:spcBef>
            </a:pPr>
            <a:r>
              <a:rPr lang="en-US" dirty="0">
                <a:latin typeface="Times New Roman" panose="02020603050405020304" pitchFamily="18" charset="0"/>
                <a:cs typeface="Times New Roman" panose="02020603050405020304" pitchFamily="18" charset="0"/>
              </a:rPr>
              <a:t>Software for designing and checking the behavior of digital circuits.</a:t>
            </a:r>
          </a:p>
          <a:p>
            <a:pPr>
              <a:spcBef>
                <a:spcPts val="1800"/>
              </a:spcBef>
            </a:pPr>
            <a:r>
              <a:rPr lang="en-US" dirty="0">
                <a:latin typeface="Times New Roman" panose="02020603050405020304" pitchFamily="18" charset="0"/>
                <a:cs typeface="Times New Roman" panose="02020603050405020304" pitchFamily="18" charset="0"/>
              </a:rPr>
              <a:t>Used in text editors.</a:t>
            </a:r>
          </a:p>
          <a:p>
            <a:pPr>
              <a:spcBef>
                <a:spcPts val="1800"/>
              </a:spcBef>
            </a:pPr>
            <a:r>
              <a:rPr lang="en-US" dirty="0">
                <a:latin typeface="Times New Roman" panose="02020603050405020304" pitchFamily="18" charset="0"/>
                <a:cs typeface="Times New Roman" panose="02020603050405020304" pitchFamily="18" charset="0"/>
              </a:rPr>
              <a:t>For the implementation of spell checkers.</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23</a:t>
            </a:fld>
            <a:endParaRPr lang="en-US" altLang="en-US"/>
          </a:p>
        </p:txBody>
      </p:sp>
    </p:spTree>
    <p:extLst>
      <p:ext uri="{BB962C8B-B14F-4D97-AF65-F5344CB8AC3E}">
        <p14:creationId xmlns:p14="http://schemas.microsoft.com/office/powerpoint/2010/main" val="30323690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r>
              <a:rPr lang="en-IN" dirty="0">
                <a:latin typeface="Times New Roman" panose="02020603050405020304" pitchFamily="18" charset="0"/>
                <a:cs typeface="Times New Roman" panose="02020603050405020304" pitchFamily="18" charset="0"/>
              </a:rPr>
              <a:t>Application of Finite Automata</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a:spcBef>
                <a:spcPts val="1800"/>
              </a:spcBef>
            </a:pPr>
            <a:r>
              <a:rPr lang="en-US" dirty="0">
                <a:latin typeface="Times New Roman" panose="02020603050405020304" pitchFamily="18" charset="0"/>
                <a:cs typeface="Times New Roman" panose="02020603050405020304" pitchFamily="18" charset="0"/>
              </a:rPr>
              <a:t>Software for scanning large bodies of text like web pages to find occurrences of words, phrases, and other patterns.</a:t>
            </a:r>
          </a:p>
          <a:p>
            <a:pPr>
              <a:spcBef>
                <a:spcPts val="1800"/>
              </a:spcBef>
            </a:pPr>
            <a:r>
              <a:rPr lang="en-US" dirty="0">
                <a:latin typeface="Times New Roman" panose="02020603050405020304" pitchFamily="18" charset="0"/>
                <a:cs typeface="Times New Roman" panose="02020603050405020304" pitchFamily="18" charset="0"/>
              </a:rPr>
              <a:t>Software to verify all types that have a finite number of distinct states, such as communication protocols for the secure exchange of information.</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24</a:t>
            </a:fld>
            <a:endParaRPr lang="en-US" altLang="en-US"/>
          </a:p>
        </p:txBody>
      </p:sp>
    </p:spTree>
    <p:extLst>
      <p:ext uri="{BB962C8B-B14F-4D97-AF65-F5344CB8AC3E}">
        <p14:creationId xmlns:p14="http://schemas.microsoft.com/office/powerpoint/2010/main" val="18061912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Applications of Push Down Automata</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a:spcBef>
                <a:spcPts val="1800"/>
              </a:spcBef>
            </a:pPr>
            <a:r>
              <a:rPr lang="en-US" dirty="0">
                <a:latin typeface="Times New Roman" panose="02020603050405020304" pitchFamily="18" charset="0"/>
                <a:cs typeface="Times New Roman" panose="02020603050405020304" pitchFamily="18" charset="0"/>
              </a:rPr>
              <a:t>For designing the parsing phase of a compiler (Syntax Analysis).</a:t>
            </a:r>
          </a:p>
          <a:p>
            <a:pPr>
              <a:spcBef>
                <a:spcPts val="1800"/>
              </a:spcBef>
            </a:pPr>
            <a:r>
              <a:rPr lang="en-US" dirty="0">
                <a:latin typeface="Times New Roman" panose="02020603050405020304" pitchFamily="18" charset="0"/>
                <a:cs typeface="Times New Roman" panose="02020603050405020304" pitchFamily="18" charset="0"/>
              </a:rPr>
              <a:t>For implementation of stack applications.</a:t>
            </a:r>
          </a:p>
          <a:p>
            <a:pPr>
              <a:spcBef>
                <a:spcPts val="1800"/>
              </a:spcBef>
            </a:pPr>
            <a:r>
              <a:rPr lang="en-US" dirty="0">
                <a:latin typeface="Times New Roman" panose="02020603050405020304" pitchFamily="18" charset="0"/>
                <a:cs typeface="Times New Roman" panose="02020603050405020304" pitchFamily="18" charset="0"/>
              </a:rPr>
              <a:t>For evaluating arithmetic expressions.</a:t>
            </a:r>
          </a:p>
          <a:p>
            <a:pPr>
              <a:spcBef>
                <a:spcPts val="1800"/>
              </a:spcBef>
            </a:pPr>
            <a:r>
              <a:rPr lang="en-US" dirty="0">
                <a:latin typeface="Times New Roman" panose="02020603050405020304" pitchFamily="18" charset="0"/>
                <a:cs typeface="Times New Roman" panose="02020603050405020304" pitchFamily="18" charset="0"/>
              </a:rPr>
              <a:t>For solving the Tower of Hanoi problem.</a:t>
            </a:r>
            <a:endParaRPr lang="en-IN" dirty="0">
              <a:highlight>
                <a:srgbClr val="FFFF00"/>
              </a:highlight>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25</a:t>
            </a:fld>
            <a:endParaRPr lang="en-US" altLang="en-US"/>
          </a:p>
        </p:txBody>
      </p:sp>
    </p:spTree>
    <p:extLst>
      <p:ext uri="{BB962C8B-B14F-4D97-AF65-F5344CB8AC3E}">
        <p14:creationId xmlns:p14="http://schemas.microsoft.com/office/powerpoint/2010/main" val="36714485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Applications of Turing Machine</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a:spcBef>
                <a:spcPts val="1800"/>
              </a:spcBef>
            </a:pPr>
            <a:r>
              <a:rPr lang="en-US" dirty="0">
                <a:latin typeface="Times New Roman" panose="02020603050405020304" pitchFamily="18" charset="0"/>
                <a:cs typeface="Times New Roman" panose="02020603050405020304" pitchFamily="18" charset="0"/>
              </a:rPr>
              <a:t>For solving any recursively enumerable problem.</a:t>
            </a:r>
          </a:p>
          <a:p>
            <a:pPr>
              <a:spcBef>
                <a:spcPts val="1800"/>
              </a:spcBef>
            </a:pPr>
            <a:r>
              <a:rPr lang="en-US" dirty="0">
                <a:latin typeface="Times New Roman" panose="02020603050405020304" pitchFamily="18" charset="0"/>
                <a:cs typeface="Times New Roman" panose="02020603050405020304" pitchFamily="18" charset="0"/>
              </a:rPr>
              <a:t>For understanding complexity theory.</a:t>
            </a:r>
          </a:p>
          <a:p>
            <a:pPr>
              <a:spcBef>
                <a:spcPts val="1800"/>
              </a:spcBef>
            </a:pPr>
            <a:r>
              <a:rPr lang="en-US" dirty="0">
                <a:latin typeface="Times New Roman" panose="02020603050405020304" pitchFamily="18" charset="0"/>
                <a:cs typeface="Times New Roman" panose="02020603050405020304" pitchFamily="18" charset="0"/>
              </a:rPr>
              <a:t>For implementation of neural networks.</a:t>
            </a:r>
          </a:p>
          <a:p>
            <a:pPr>
              <a:spcBef>
                <a:spcPts val="1800"/>
              </a:spcBef>
            </a:pPr>
            <a:r>
              <a:rPr lang="en-US" dirty="0">
                <a:latin typeface="Times New Roman" panose="02020603050405020304" pitchFamily="18" charset="0"/>
                <a:cs typeface="Times New Roman" panose="02020603050405020304" pitchFamily="18" charset="0"/>
              </a:rPr>
              <a:t>For implementation of robotics applications.</a:t>
            </a:r>
          </a:p>
          <a:p>
            <a:pPr>
              <a:spcBef>
                <a:spcPts val="1800"/>
              </a:spcBef>
            </a:pPr>
            <a:r>
              <a:rPr lang="en-US" dirty="0">
                <a:latin typeface="Times New Roman" panose="02020603050405020304" pitchFamily="18" charset="0"/>
                <a:cs typeface="Times New Roman" panose="02020603050405020304" pitchFamily="18" charset="0"/>
              </a:rPr>
              <a:t>For implementation of artificial intelligence.</a:t>
            </a:r>
            <a:endParaRPr lang="en-IN" dirty="0">
              <a:highlight>
                <a:srgbClr val="FFFF00"/>
              </a:highlight>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26</a:t>
            </a:fld>
            <a:endParaRPr lang="en-US" altLang="en-US"/>
          </a:p>
        </p:txBody>
      </p:sp>
    </p:spTree>
    <p:extLst>
      <p:ext uri="{BB962C8B-B14F-4D97-AF65-F5344CB8AC3E}">
        <p14:creationId xmlns:p14="http://schemas.microsoft.com/office/powerpoint/2010/main" val="23648936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Basic Notation and Definitions</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marL="0" indent="0">
              <a:lnSpc>
                <a:spcPct val="150000"/>
              </a:lnSpc>
              <a:buNone/>
            </a:pPr>
            <a:r>
              <a:rPr lang="en-US" b="1" dirty="0">
                <a:latin typeface="Times New Roman" panose="02020603050405020304" pitchFamily="18" charset="0"/>
                <a:cs typeface="Times New Roman" panose="02020603050405020304" pitchFamily="18" charset="0"/>
              </a:rPr>
              <a:t>1)Alphabets:</a:t>
            </a:r>
            <a:endParaRPr lang="en-US" dirty="0">
              <a:latin typeface="Times New Roman" panose="02020603050405020304" pitchFamily="18" charset="0"/>
              <a:cs typeface="Times New Roman" panose="02020603050405020304" pitchFamily="18" charset="0"/>
            </a:endParaRPr>
          </a:p>
          <a:p>
            <a:pPr marL="0" indent="0">
              <a:lnSpc>
                <a:spcPct val="150000"/>
              </a:lnSpc>
              <a:buNone/>
            </a:pPr>
            <a:r>
              <a:rPr lang="en-US" dirty="0">
                <a:latin typeface="Times New Roman" panose="02020603050405020304" pitchFamily="18" charset="0"/>
                <a:cs typeface="Times New Roman" panose="02020603050405020304" pitchFamily="18" charset="0"/>
              </a:rPr>
              <a:t>It is a finite set of symbols which is non-empty and is denoted as </a:t>
            </a:r>
            <a:r>
              <a:rPr lang="en-US" b="1" dirty="0">
                <a:latin typeface="Times New Roman" panose="02020603050405020304" pitchFamily="18" charset="0"/>
                <a:cs typeface="Times New Roman" panose="02020603050405020304" pitchFamily="18" charset="0"/>
              </a:rPr>
              <a:t>Σ</a:t>
            </a:r>
            <a:r>
              <a:rPr lang="en-US" dirty="0">
                <a:latin typeface="Times New Roman" panose="02020603050405020304" pitchFamily="18" charset="0"/>
                <a:cs typeface="Times New Roman" panose="02020603050405020304" pitchFamily="18" charset="0"/>
              </a:rPr>
              <a:t>.</a:t>
            </a:r>
          </a:p>
          <a:p>
            <a:pPr marL="0" indent="0">
              <a:lnSpc>
                <a:spcPct val="150000"/>
              </a:lnSpc>
              <a:buNone/>
            </a:pPr>
            <a:r>
              <a:rPr lang="en-US" b="1" dirty="0">
                <a:latin typeface="Times New Roman" panose="02020603050405020304" pitchFamily="18" charset="0"/>
                <a:cs typeface="Times New Roman" panose="02020603050405020304" pitchFamily="18" charset="0"/>
              </a:rPr>
              <a:t>Example:</a:t>
            </a:r>
            <a:endParaRPr lang="en-US" dirty="0">
              <a:latin typeface="Times New Roman" panose="02020603050405020304" pitchFamily="18" charset="0"/>
              <a:cs typeface="Times New Roman" panose="02020603050405020304" pitchFamily="18" charset="0"/>
            </a:endParaRPr>
          </a:p>
          <a:p>
            <a:pPr marL="0" indent="0">
              <a:lnSpc>
                <a:spcPct val="150000"/>
              </a:lnSpc>
              <a:buNone/>
            </a:pPr>
            <a:r>
              <a:rPr lang="en-US" dirty="0">
                <a:latin typeface="Times New Roman" panose="02020603050405020304" pitchFamily="18" charset="0"/>
                <a:cs typeface="Times New Roman" panose="02020603050405020304" pitchFamily="18" charset="0"/>
              </a:rPr>
              <a:t>	Σ = {0, 1} </a:t>
            </a:r>
          </a:p>
          <a:p>
            <a:pPr marL="0" indent="0">
              <a:lnSpc>
                <a:spcPct val="150000"/>
              </a:lnSpc>
              <a:buNone/>
            </a:pPr>
            <a:r>
              <a:rPr lang="en-US" dirty="0">
                <a:latin typeface="Times New Roman" panose="02020603050405020304" pitchFamily="18" charset="0"/>
                <a:cs typeface="Times New Roman" panose="02020603050405020304" pitchFamily="18" charset="0"/>
              </a:rPr>
              <a:t>	Σ = {a, b, c}</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27</a:t>
            </a:fld>
            <a:endParaRPr lang="en-US" altLang="en-US"/>
          </a:p>
        </p:txBody>
      </p:sp>
    </p:spTree>
    <p:extLst>
      <p:ext uri="{BB962C8B-B14F-4D97-AF65-F5344CB8AC3E}">
        <p14:creationId xmlns:p14="http://schemas.microsoft.com/office/powerpoint/2010/main" val="29861981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Basic Notation and Definitions</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marL="0" indent="0">
              <a:lnSpc>
                <a:spcPct val="150000"/>
              </a:lnSpc>
              <a:buNone/>
            </a:pPr>
            <a:r>
              <a:rPr lang="en-US" b="1"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String:</a:t>
            </a:r>
          </a:p>
          <a:p>
            <a:pPr marL="0" indent="0">
              <a:lnSpc>
                <a:spcPct val="150000"/>
              </a:lnSpc>
              <a:buNone/>
            </a:pPr>
            <a:r>
              <a:rPr lang="en-US" dirty="0">
                <a:latin typeface="Times New Roman" panose="02020603050405020304" pitchFamily="18" charset="0"/>
                <a:cs typeface="Times New Roman" panose="02020603050405020304" pitchFamily="18" charset="0"/>
              </a:rPr>
              <a:t>	It is a finite sequence of alphabets (symbols) chosen from Σ.</a:t>
            </a:r>
          </a:p>
          <a:p>
            <a:pPr marL="0" indent="0">
              <a:lnSpc>
                <a:spcPct val="150000"/>
              </a:lnSpc>
              <a:buNone/>
            </a:pPr>
            <a:r>
              <a:rPr lang="en-US" b="1" dirty="0">
                <a:latin typeface="Times New Roman" panose="02020603050405020304" pitchFamily="18" charset="0"/>
                <a:cs typeface="Times New Roman" panose="02020603050405020304" pitchFamily="18" charset="0"/>
              </a:rPr>
              <a:t>Example:</a:t>
            </a:r>
          </a:p>
          <a:p>
            <a:pPr marL="0" indent="0">
              <a:lnSpc>
                <a:spcPct val="150000"/>
              </a:lnSpc>
              <a:buNone/>
            </a:pPr>
            <a:r>
              <a:rPr lang="en-US" dirty="0">
                <a:latin typeface="Times New Roman" panose="02020603050405020304" pitchFamily="18" charset="0"/>
                <a:cs typeface="Times New Roman" panose="02020603050405020304" pitchFamily="18" charset="0"/>
              </a:rPr>
              <a:t>	If Σ = {0, 1}, then the strings are:{0, 1, 00, 01, 11, 000, ...}</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28</a:t>
            </a:fld>
            <a:endParaRPr lang="en-US" altLang="en-US"/>
          </a:p>
        </p:txBody>
      </p:sp>
    </p:spTree>
    <p:extLst>
      <p:ext uri="{BB962C8B-B14F-4D97-AF65-F5344CB8AC3E}">
        <p14:creationId xmlns:p14="http://schemas.microsoft.com/office/powerpoint/2010/main" val="28879689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Basic Notation and Definitions</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marL="0" indent="0">
              <a:lnSpc>
                <a:spcPct val="150000"/>
              </a:lnSpc>
              <a:buNone/>
            </a:pPr>
            <a:r>
              <a:rPr lang="en-US"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Empty String:</a:t>
            </a:r>
          </a:p>
          <a:p>
            <a:pPr marL="0" indent="0">
              <a:lnSpc>
                <a:spcPct val="150000"/>
              </a:lnSpc>
              <a:buNone/>
            </a:pPr>
            <a:r>
              <a:rPr lang="en-US" dirty="0">
                <a:latin typeface="Times New Roman" panose="02020603050405020304" pitchFamily="18" charset="0"/>
                <a:cs typeface="Times New Roman" panose="02020603050405020304" pitchFamily="18" charset="0"/>
              </a:rPr>
              <a:t>	A string with zero symbols is called an empty string and is denoted as ε (epsilon).</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29</a:t>
            </a:fld>
            <a:endParaRPr lang="en-US" altLang="en-US"/>
          </a:p>
        </p:txBody>
      </p:sp>
    </p:spTree>
    <p:extLst>
      <p:ext uri="{BB962C8B-B14F-4D97-AF65-F5344CB8AC3E}">
        <p14:creationId xmlns:p14="http://schemas.microsoft.com/office/powerpoint/2010/main" val="26958382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Basic Notation and Definitions</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marL="0" indent="0">
              <a:lnSpc>
                <a:spcPct val="150000"/>
              </a:lnSpc>
              <a:buNone/>
            </a:pPr>
            <a:r>
              <a:rPr lang="en-US" b="1" dirty="0">
                <a:latin typeface="Times New Roman" panose="02020603050405020304" pitchFamily="18" charset="0"/>
                <a:cs typeface="Times New Roman" panose="02020603050405020304" pitchFamily="18" charset="0"/>
              </a:rPr>
              <a:t>4) Length of a String:</a:t>
            </a:r>
          </a:p>
          <a:p>
            <a:pPr marL="0" indent="0">
              <a:lnSpc>
                <a:spcPct val="150000"/>
              </a:lnSpc>
              <a:buNone/>
            </a:pPr>
            <a:r>
              <a:rPr lang="en-US" dirty="0">
                <a:latin typeface="Times New Roman" panose="02020603050405020304" pitchFamily="18" charset="0"/>
                <a:cs typeface="Times New Roman" panose="02020603050405020304" pitchFamily="18" charset="0"/>
              </a:rPr>
              <a:t>	The number of symbols in a string is called the length of a string, denoted as |W|.</a:t>
            </a:r>
          </a:p>
          <a:p>
            <a:pPr marL="0" indent="0">
              <a:lnSpc>
                <a:spcPct val="150000"/>
              </a:lnSpc>
              <a:buNone/>
            </a:pPr>
            <a:r>
              <a:rPr lang="en-US" b="1" dirty="0">
                <a:latin typeface="Times New Roman" panose="02020603050405020304" pitchFamily="18" charset="0"/>
                <a:cs typeface="Times New Roman" panose="02020603050405020304" pitchFamily="18" charset="0"/>
              </a:rPr>
              <a:t>Example:</a:t>
            </a:r>
          </a:p>
          <a:p>
            <a:pPr marL="0" indent="0">
              <a:lnSpc>
                <a:spcPct val="150000"/>
              </a:lnSpc>
              <a:buNone/>
            </a:pPr>
            <a:r>
              <a:rPr lang="en-US" dirty="0">
                <a:latin typeface="Times New Roman" panose="02020603050405020304" pitchFamily="18" charset="0"/>
                <a:cs typeface="Times New Roman" panose="02020603050405020304" pitchFamily="18" charset="0"/>
              </a:rPr>
              <a:t>	If W is a string, then the length of W is denoted as |W|.</a:t>
            </a:r>
          </a:p>
          <a:p>
            <a:pPr marL="0" indent="0">
              <a:lnSpc>
                <a:spcPct val="150000"/>
              </a:lnSpc>
              <a:buNone/>
            </a:pPr>
            <a:r>
              <a:rPr lang="en-US"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Σ={0,1}</a:t>
            </a:r>
            <a:r>
              <a:rPr lang="en-IN" dirty="0">
                <a:latin typeface="Times New Roman" panose="02020603050405020304" pitchFamily="18" charset="0"/>
                <a:cs typeface="Times New Roman" panose="02020603050405020304" pitchFamily="18" charset="0"/>
              </a:rPr>
              <a:t>, the string W is derived from alphabet </a:t>
            </a:r>
            <a:r>
              <a:rPr lang="el-GR" dirty="0">
                <a:latin typeface="Times New Roman" panose="02020603050405020304" pitchFamily="18" charset="0"/>
                <a:cs typeface="Times New Roman" panose="02020603050405020304" pitchFamily="18" charset="0"/>
              </a:rPr>
              <a:t>Σ</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W=01100,  ∣W∣=5</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30</a:t>
            </a:fld>
            <a:endParaRPr lang="en-US" altLang="en-US"/>
          </a:p>
        </p:txBody>
      </p:sp>
    </p:spTree>
    <p:extLst>
      <p:ext uri="{BB962C8B-B14F-4D97-AF65-F5344CB8AC3E}">
        <p14:creationId xmlns:p14="http://schemas.microsoft.com/office/powerpoint/2010/main" val="2401547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Basic Notation and Definitions</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marL="0" indent="0">
              <a:lnSpc>
                <a:spcPct val="100000"/>
              </a:lnSpc>
              <a:buNone/>
            </a:pPr>
            <a:r>
              <a:rPr lang="en-US" sz="2400" b="1" dirty="0">
                <a:latin typeface="Times New Roman" panose="02020603050405020304" pitchFamily="18" charset="0"/>
                <a:cs typeface="Times New Roman" panose="02020603050405020304" pitchFamily="18" charset="0"/>
              </a:rPr>
              <a:t>5) Power of an Alphabet:</a:t>
            </a:r>
          </a:p>
          <a:p>
            <a:pPr marL="0" indent="0">
              <a:lnSpc>
                <a:spcPct val="100000"/>
              </a:lnSpc>
              <a:buNone/>
            </a:pPr>
            <a:r>
              <a:rPr lang="en-US" sz="2400" dirty="0">
                <a:latin typeface="Times New Roman" panose="02020603050405020304" pitchFamily="18" charset="0"/>
                <a:cs typeface="Times New Roman" panose="02020603050405020304" pitchFamily="18" charset="0"/>
              </a:rPr>
              <a:t>If Σ is an alphabet, the set of all strings formed from the alphabet is called the power of the alphabet. It is represented as Σⁿ.</a:t>
            </a:r>
          </a:p>
          <a:p>
            <a:pPr marL="0" indent="0">
              <a:lnSpc>
                <a:spcPct val="100000"/>
              </a:lnSpc>
              <a:buNone/>
            </a:pPr>
            <a:r>
              <a:rPr lang="en-US" sz="2400" dirty="0">
                <a:latin typeface="Times New Roman" panose="02020603050405020304" pitchFamily="18" charset="0"/>
                <a:cs typeface="Times New Roman" panose="02020603050405020304" pitchFamily="18" charset="0"/>
              </a:rPr>
              <a:t>Example:</a:t>
            </a:r>
          </a:p>
          <a:p>
            <a:pPr marL="0" indent="0">
              <a:lnSpc>
                <a:spcPct val="100000"/>
              </a:lnSpc>
              <a:buNone/>
            </a:pPr>
            <a:r>
              <a:rPr lang="en-US" sz="2400" dirty="0">
                <a:latin typeface="Times New Roman" panose="02020603050405020304" pitchFamily="18" charset="0"/>
                <a:cs typeface="Times New Roman" panose="02020603050405020304" pitchFamily="18" charset="0"/>
              </a:rPr>
              <a:t>If Σ = {0, 1}, then:</a:t>
            </a:r>
          </a:p>
          <a:p>
            <a:pPr marL="0" indent="0">
              <a:lnSpc>
                <a:spcPct val="100000"/>
              </a:lnSpc>
              <a:buNone/>
            </a:pPr>
            <a:r>
              <a:rPr lang="en-US" sz="2400" dirty="0">
                <a:latin typeface="Times New Roman" panose="02020603050405020304" pitchFamily="18" charset="0"/>
                <a:cs typeface="Times New Roman" panose="02020603050405020304" pitchFamily="18" charset="0"/>
              </a:rPr>
              <a:t>	Σ⁰ = {ε} ≠ ∅</a:t>
            </a:r>
          </a:p>
          <a:p>
            <a:pPr marL="0" indent="0">
              <a:lnSpc>
                <a:spcPct val="100000"/>
              </a:lnSpc>
              <a:buNone/>
            </a:pPr>
            <a:r>
              <a:rPr lang="en-US" sz="2400" dirty="0">
                <a:latin typeface="Times New Roman" panose="02020603050405020304" pitchFamily="18" charset="0"/>
                <a:cs typeface="Times New Roman" panose="02020603050405020304" pitchFamily="18" charset="0"/>
              </a:rPr>
              <a:t>	Σ¹ = {0, 1}</a:t>
            </a:r>
          </a:p>
          <a:p>
            <a:pPr marL="0" indent="0">
              <a:lnSpc>
                <a:spcPct val="100000"/>
              </a:lnSpc>
              <a:buNone/>
            </a:pPr>
            <a:r>
              <a:rPr lang="en-US" sz="2400" dirty="0">
                <a:latin typeface="Times New Roman" panose="02020603050405020304" pitchFamily="18" charset="0"/>
                <a:cs typeface="Times New Roman" panose="02020603050405020304" pitchFamily="18" charset="0"/>
              </a:rPr>
              <a:t>	Σ² = {00, 01, 10, 11}</a:t>
            </a:r>
          </a:p>
          <a:p>
            <a:pPr marL="0" indent="0">
              <a:lnSpc>
                <a:spcPct val="100000"/>
              </a:lnSpc>
              <a:buNone/>
            </a:pPr>
            <a:r>
              <a:rPr lang="en-US" sz="2400" dirty="0">
                <a:latin typeface="Times New Roman" panose="02020603050405020304" pitchFamily="18" charset="0"/>
                <a:cs typeface="Times New Roman" panose="02020603050405020304" pitchFamily="18" charset="0"/>
              </a:rPr>
              <a:t>	Σ³ = {000, 001, 010, ..., 111}</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31</a:t>
            </a:fld>
            <a:endParaRPr lang="en-US" altLang="en-US"/>
          </a:p>
        </p:txBody>
      </p:sp>
    </p:spTree>
    <p:extLst>
      <p:ext uri="{BB962C8B-B14F-4D97-AF65-F5344CB8AC3E}">
        <p14:creationId xmlns:p14="http://schemas.microsoft.com/office/powerpoint/2010/main" val="13761297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Basic Notation and Definitions</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marL="0" indent="0">
              <a:lnSpc>
                <a:spcPct val="100000"/>
              </a:lnSpc>
              <a:buNone/>
            </a:pPr>
            <a:r>
              <a:rPr lang="en-US" sz="2400" b="1" dirty="0">
                <a:latin typeface="Times New Roman" panose="02020603050405020304" pitchFamily="18" charset="0"/>
                <a:cs typeface="Times New Roman" panose="02020603050405020304" pitchFamily="18" charset="0"/>
              </a:rPr>
              <a:t>6) Kleene Closure:</a:t>
            </a:r>
          </a:p>
          <a:p>
            <a:pPr marL="0" indent="0">
              <a:lnSpc>
                <a:spcPct val="150000"/>
              </a:lnSpc>
              <a:buNone/>
            </a:pPr>
            <a:r>
              <a:rPr lang="en-US" sz="2400" dirty="0">
                <a:latin typeface="Times New Roman" panose="02020603050405020304" pitchFamily="18" charset="0"/>
                <a:cs typeface="Times New Roman" panose="02020603050405020304" pitchFamily="18" charset="0"/>
              </a:rPr>
              <a:t>The set of all strings over </a:t>
            </a:r>
            <a:r>
              <a:rPr lang="el-GR" sz="2400" dirty="0">
                <a:latin typeface="Times New Roman" panose="02020603050405020304" pitchFamily="18" charset="0"/>
                <a:cs typeface="Times New Roman" panose="02020603050405020304" pitchFamily="18" charset="0"/>
              </a:rPr>
              <a:t>Σ, </a:t>
            </a:r>
            <a:r>
              <a:rPr lang="en-US" sz="2400" dirty="0">
                <a:latin typeface="Times New Roman" panose="02020603050405020304" pitchFamily="18" charset="0"/>
                <a:cs typeface="Times New Roman" panose="02020603050405020304" pitchFamily="18" charset="0"/>
              </a:rPr>
              <a:t>including the null (empty) string, forms the Kleene closure and is denoted by </a:t>
            </a:r>
            <a:r>
              <a:rPr lang="el-GR" sz="2400" dirty="0">
                <a:latin typeface="Times New Roman" panose="02020603050405020304" pitchFamily="18" charset="0"/>
                <a:cs typeface="Times New Roman" panose="02020603050405020304" pitchFamily="18" charset="0"/>
              </a:rPr>
              <a:t>Σ*.</a:t>
            </a:r>
          </a:p>
          <a:p>
            <a:pPr marL="0" indent="0">
              <a:lnSpc>
                <a:spcPct val="150000"/>
              </a:lnSpc>
              <a:buNone/>
            </a:pPr>
            <a:r>
              <a:rPr lang="el-GR" sz="2400" dirty="0">
                <a:latin typeface="Times New Roman" panose="02020603050405020304" pitchFamily="18" charset="0"/>
                <a:cs typeface="Times New Roman" panose="02020603050405020304" pitchFamily="18" charset="0"/>
              </a:rPr>
              <a:t>Σ∗=</a:t>
            </a:r>
            <a:r>
              <a:rPr lang="en-US" sz="2400" dirty="0">
                <a:latin typeface="Times New Roman" panose="02020603050405020304" pitchFamily="18" charset="0"/>
                <a:cs typeface="Times New Roman" panose="02020603050405020304" pitchFamily="18" charset="0"/>
              </a:rPr>
              <a:t> Σ⁰</a:t>
            </a:r>
            <a:r>
              <a:rPr lang="el-GR" sz="2400" dirty="0">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Σ¹</a:t>
            </a:r>
            <a:r>
              <a:rPr lang="el-GR" sz="2400" dirty="0">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Σ²</a:t>
            </a:r>
            <a:r>
              <a:rPr lang="el-GR" sz="2400" dirty="0">
                <a:latin typeface="Times New Roman" panose="02020603050405020304" pitchFamily="18" charset="0"/>
                <a:cs typeface="Times New Roman" panose="02020603050405020304" pitchFamily="18" charset="0"/>
              </a:rPr>
              <a:t> ∪ ⋯</a:t>
            </a:r>
          </a:p>
          <a:p>
            <a:pPr marL="0" indent="0">
              <a:lnSpc>
                <a:spcPct val="150000"/>
              </a:lnSpc>
              <a:buNone/>
            </a:pPr>
            <a:r>
              <a:rPr lang="en-US" sz="2400" dirty="0">
                <a:latin typeface="Times New Roman" panose="02020603050405020304" pitchFamily="18" charset="0"/>
                <a:cs typeface="Times New Roman" panose="02020603050405020304" pitchFamily="18" charset="0"/>
              </a:rPr>
              <a:t>Example:</a:t>
            </a:r>
          </a:p>
          <a:p>
            <a:pPr marL="0" indent="0">
              <a:lnSpc>
                <a:spcPct val="150000"/>
              </a:lnSpc>
              <a:buNone/>
            </a:pPr>
            <a:r>
              <a:rPr lang="en-US" sz="2400" dirty="0">
                <a:latin typeface="Times New Roman" panose="02020603050405020304" pitchFamily="18" charset="0"/>
                <a:cs typeface="Times New Roman" panose="02020603050405020304" pitchFamily="18" charset="0"/>
              </a:rPr>
              <a:t>	If </a:t>
            </a:r>
            <a:r>
              <a:rPr lang="el-GR" sz="2400" dirty="0">
                <a:latin typeface="Times New Roman" panose="02020603050405020304" pitchFamily="18" charset="0"/>
                <a:cs typeface="Times New Roman" panose="02020603050405020304" pitchFamily="18" charset="0"/>
              </a:rPr>
              <a:t>Σ = {</a:t>
            </a:r>
            <a:r>
              <a:rPr lang="en-US" sz="2400" dirty="0">
                <a:latin typeface="Times New Roman" panose="02020603050405020304" pitchFamily="18" charset="0"/>
                <a:cs typeface="Times New Roman" panose="02020603050405020304" pitchFamily="18" charset="0"/>
              </a:rPr>
              <a:t>a, b}, then</a:t>
            </a:r>
          </a:p>
          <a:p>
            <a:pPr marL="0" indent="0">
              <a:lnSpc>
                <a:spcPct val="150000"/>
              </a:lnSpc>
              <a:buNone/>
            </a:pP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Σ* </a:t>
            </a:r>
            <a:r>
              <a:rPr lang="el-GR" sz="2400" dirty="0">
                <a:latin typeface="Times New Roman" panose="02020603050405020304" pitchFamily="18" charset="0"/>
                <a:cs typeface="Times New Roman" panose="02020603050405020304" pitchFamily="18" charset="0"/>
              </a:rPr>
              <a:t>={ε, </a:t>
            </a:r>
            <a:r>
              <a:rPr lang="en-US" sz="2400" dirty="0">
                <a:latin typeface="Times New Roman" panose="02020603050405020304" pitchFamily="18" charset="0"/>
                <a:cs typeface="Times New Roman" panose="02020603050405020304" pitchFamily="18" charset="0"/>
              </a:rPr>
              <a:t>a, b, aa, ab, </a:t>
            </a:r>
            <a:r>
              <a:rPr lang="en-US" sz="2400" dirty="0" err="1">
                <a:latin typeface="Times New Roman" panose="02020603050405020304" pitchFamily="18" charset="0"/>
                <a:cs typeface="Times New Roman" panose="02020603050405020304" pitchFamily="18" charset="0"/>
              </a:rPr>
              <a:t>ba</a:t>
            </a:r>
            <a:r>
              <a:rPr lang="en-US" sz="2400" dirty="0">
                <a:latin typeface="Times New Roman" panose="02020603050405020304" pitchFamily="18" charset="0"/>
                <a:cs typeface="Times New Roman" panose="02020603050405020304" pitchFamily="18" charset="0"/>
              </a:rPr>
              <a:t>, bb, </a:t>
            </a:r>
            <a:r>
              <a:rPr lang="en-US" sz="2400" dirty="0" err="1">
                <a:latin typeface="Times New Roman" panose="02020603050405020304" pitchFamily="18" charset="0"/>
                <a:cs typeface="Times New Roman" panose="02020603050405020304" pitchFamily="18" charset="0"/>
              </a:rPr>
              <a:t>aaa</a:t>
            </a:r>
            <a:r>
              <a:rPr lang="en-US" sz="2400" dirty="0">
                <a:latin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32</a:t>
            </a:fld>
            <a:endParaRPr lang="en-US" altLang="en-US"/>
          </a:p>
        </p:txBody>
      </p:sp>
    </p:spTree>
    <p:extLst>
      <p:ext uri="{BB962C8B-B14F-4D97-AF65-F5344CB8AC3E}">
        <p14:creationId xmlns:p14="http://schemas.microsoft.com/office/powerpoint/2010/main" val="39383728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Basic Notation and Definitions</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marL="0" indent="0">
              <a:lnSpc>
                <a:spcPct val="100000"/>
              </a:lnSpc>
              <a:spcBef>
                <a:spcPts val="0"/>
              </a:spcBef>
              <a:buNone/>
            </a:pPr>
            <a:r>
              <a:rPr lang="en-US" sz="2400" b="1" dirty="0">
                <a:latin typeface="Times New Roman" panose="02020603050405020304" pitchFamily="18" charset="0"/>
                <a:cs typeface="Times New Roman" panose="02020603050405020304" pitchFamily="18" charset="0"/>
              </a:rPr>
              <a:t>7) Positive Closure:</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The set of all strings over </a:t>
            </a:r>
            <a:r>
              <a:rPr lang="el-GR" sz="2400" dirty="0">
                <a:latin typeface="Times New Roman" panose="02020603050405020304" pitchFamily="18" charset="0"/>
                <a:cs typeface="Times New Roman" panose="02020603050405020304" pitchFamily="18" charset="0"/>
              </a:rPr>
              <a:t>Σ, </a:t>
            </a:r>
            <a:r>
              <a:rPr lang="en-US" sz="2400" dirty="0">
                <a:latin typeface="Times New Roman" panose="02020603050405020304" pitchFamily="18" charset="0"/>
                <a:cs typeface="Times New Roman" panose="02020603050405020304" pitchFamily="18" charset="0"/>
              </a:rPr>
              <a:t>excluding the null (empty) string, forms the positive closure and is denoted by </a:t>
            </a:r>
            <a:r>
              <a:rPr lang="el-GR" sz="2400" dirty="0">
                <a:latin typeface="Times New Roman" panose="02020603050405020304" pitchFamily="18" charset="0"/>
                <a:cs typeface="Times New Roman" panose="02020603050405020304" pitchFamily="18" charset="0"/>
              </a:rPr>
              <a:t>Σ⁺.</a:t>
            </a:r>
          </a:p>
          <a:p>
            <a:pPr marL="0" indent="0">
              <a:lnSpc>
                <a:spcPct val="150000"/>
              </a:lnSpc>
              <a:buNone/>
            </a:pPr>
            <a:r>
              <a:rPr lang="en-IN" sz="2400" dirty="0">
                <a:latin typeface="Times New Roman" panose="02020603050405020304" pitchFamily="18" charset="0"/>
                <a:cs typeface="Times New Roman" panose="02020603050405020304" pitchFamily="18" charset="0"/>
              </a:rPr>
              <a:t>		</a:t>
            </a:r>
            <a:r>
              <a:rPr lang="el-GR" sz="2400" dirty="0">
                <a:latin typeface="Times New Roman" panose="02020603050405020304" pitchFamily="18" charset="0"/>
                <a:cs typeface="Times New Roman" panose="02020603050405020304" pitchFamily="18" charset="0"/>
              </a:rPr>
              <a:t>Σ⁺ </a:t>
            </a:r>
            <a:r>
              <a:rPr lang="en-IN"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Σ⁰</a:t>
            </a:r>
            <a:r>
              <a:rPr lang="el-GR" sz="2400" dirty="0">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Σ¹</a:t>
            </a:r>
            <a:r>
              <a:rPr lang="el-GR" sz="2400" dirty="0">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Σ²</a:t>
            </a:r>
            <a:r>
              <a:rPr lang="el-GR" sz="2400" dirty="0">
                <a:latin typeface="Times New Roman" panose="02020603050405020304" pitchFamily="18" charset="0"/>
                <a:cs typeface="Times New Roman" panose="02020603050405020304" pitchFamily="18" charset="0"/>
              </a:rPr>
              <a:t> ∪ ⋯</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Example: If </a:t>
            </a:r>
            <a:r>
              <a:rPr lang="el-GR" sz="2400" dirty="0">
                <a:latin typeface="Times New Roman" panose="02020603050405020304" pitchFamily="18" charset="0"/>
                <a:cs typeface="Times New Roman" panose="02020603050405020304" pitchFamily="18" charset="0"/>
              </a:rPr>
              <a:t>Σ = {</a:t>
            </a:r>
            <a:r>
              <a:rPr lang="en-US" sz="2400" dirty="0">
                <a:latin typeface="Times New Roman" panose="02020603050405020304" pitchFamily="18" charset="0"/>
                <a:cs typeface="Times New Roman" panose="02020603050405020304" pitchFamily="18" charset="0"/>
              </a:rPr>
              <a:t>a, b}, then</a:t>
            </a:r>
          </a:p>
          <a:p>
            <a:pPr marL="0" indent="0">
              <a:lnSpc>
                <a:spcPct val="150000"/>
              </a:lnSpc>
              <a:spcBef>
                <a:spcPts val="0"/>
              </a:spcBef>
              <a:buNone/>
            </a:pPr>
            <a:r>
              <a:rPr lang="en-IN" sz="2400" dirty="0">
                <a:latin typeface="Times New Roman" panose="02020603050405020304" pitchFamily="18" charset="0"/>
                <a:cs typeface="Times New Roman" panose="02020603050405020304" pitchFamily="18" charset="0"/>
              </a:rPr>
              <a:t>	</a:t>
            </a:r>
            <a:r>
              <a:rPr lang="el-GR"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		</a:t>
            </a:r>
            <a:r>
              <a:rPr lang="el-GR" sz="2400" dirty="0">
                <a:latin typeface="Times New Roman" panose="02020603050405020304" pitchFamily="18" charset="0"/>
                <a:cs typeface="Times New Roman" panose="02020603050405020304" pitchFamily="18" charset="0"/>
              </a:rPr>
              <a:t>Σ⁺ ={</a:t>
            </a:r>
            <a:r>
              <a:rPr lang="en-US" sz="2400" dirty="0">
                <a:latin typeface="Times New Roman" panose="02020603050405020304" pitchFamily="18" charset="0"/>
                <a:cs typeface="Times New Roman" panose="02020603050405020304" pitchFamily="18" charset="0"/>
              </a:rPr>
              <a:t>a, b, aa, ab, </a:t>
            </a:r>
            <a:r>
              <a:rPr lang="en-US" sz="2400" dirty="0" err="1">
                <a:latin typeface="Times New Roman" panose="02020603050405020304" pitchFamily="18" charset="0"/>
                <a:cs typeface="Times New Roman" panose="02020603050405020304" pitchFamily="18" charset="0"/>
              </a:rPr>
              <a:t>ba</a:t>
            </a:r>
            <a:r>
              <a:rPr lang="en-US" sz="2400" dirty="0">
                <a:latin typeface="Times New Roman" panose="02020603050405020304" pitchFamily="18" charset="0"/>
                <a:cs typeface="Times New Roman" panose="02020603050405020304" pitchFamily="18" charset="0"/>
              </a:rPr>
              <a:t>, bb, </a:t>
            </a:r>
            <a:r>
              <a:rPr lang="en-US" sz="2400" dirty="0" err="1">
                <a:latin typeface="Times New Roman" panose="02020603050405020304" pitchFamily="18" charset="0"/>
                <a:cs typeface="Times New Roman" panose="02020603050405020304" pitchFamily="18" charset="0"/>
              </a:rPr>
              <a:t>aaa</a:t>
            </a:r>
            <a:r>
              <a:rPr lang="en-US" sz="2400" dirty="0">
                <a:latin typeface="Times New Roman" panose="02020603050405020304" pitchFamily="18" charset="0"/>
                <a:cs typeface="Times New Roman" panose="02020603050405020304" pitchFamily="18" charset="0"/>
              </a:rPr>
              <a:t>, …}</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Also,</a:t>
            </a:r>
          </a:p>
          <a:p>
            <a:pPr marL="0" indent="0">
              <a:lnSpc>
                <a:spcPct val="150000"/>
              </a:lnSpc>
              <a:spcBef>
                <a:spcPts val="0"/>
              </a:spcBef>
              <a:buNone/>
            </a:pP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Σ* </a:t>
            </a:r>
            <a:r>
              <a:rPr lang="el-GR" sz="2400" dirty="0">
                <a:latin typeface="Times New Roman" panose="02020603050405020304" pitchFamily="18" charset="0"/>
                <a:cs typeface="Times New Roman" panose="02020603050405020304" pitchFamily="18" charset="0"/>
              </a:rPr>
              <a:t>=Σ+ ∪ {ε}</a:t>
            </a: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   </a:t>
            </a:r>
            <a:r>
              <a:rPr lang="el-GR" sz="2400" dirty="0">
                <a:latin typeface="Times New Roman" panose="02020603050405020304" pitchFamily="18" charset="0"/>
                <a:cs typeface="Times New Roman" panose="02020603050405020304" pitchFamily="18" charset="0"/>
              </a:rPr>
              <a:t>Σ⁺ </a:t>
            </a:r>
            <a:r>
              <a:rPr lang="en-IN"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Σ* </a:t>
            </a:r>
            <a:r>
              <a:rPr lang="el-GR" sz="2400" dirty="0">
                <a:latin typeface="Times New Roman" panose="02020603050405020304" pitchFamily="18" charset="0"/>
                <a:cs typeface="Times New Roman" panose="02020603050405020304" pitchFamily="18" charset="0"/>
              </a:rPr>
              <a:t>−{ε}</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33</a:t>
            </a:fld>
            <a:endParaRPr lang="en-US" altLang="en-US"/>
          </a:p>
        </p:txBody>
      </p:sp>
    </p:spTree>
    <p:extLst>
      <p:ext uri="{BB962C8B-B14F-4D97-AF65-F5344CB8AC3E}">
        <p14:creationId xmlns:p14="http://schemas.microsoft.com/office/powerpoint/2010/main" val="35940166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Basic Notation and Definitions</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marL="0" indent="0">
              <a:lnSpc>
                <a:spcPct val="100000"/>
              </a:lnSpc>
              <a:spcBef>
                <a:spcPts val="0"/>
              </a:spcBef>
              <a:buNone/>
            </a:pPr>
            <a:r>
              <a:rPr lang="en-US" sz="2400" b="1" dirty="0">
                <a:latin typeface="Times New Roman" panose="02020603050405020304" pitchFamily="18" charset="0"/>
                <a:cs typeface="Times New Roman" panose="02020603050405020304" pitchFamily="18" charset="0"/>
              </a:rPr>
              <a:t>8) Concatenation of Strings:</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Let x and y be two strings. Then the concatenation of the two strings is represented as xy.</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b="1" dirty="0">
                <a:latin typeface="Times New Roman" panose="02020603050405020304" pitchFamily="18" charset="0"/>
                <a:cs typeface="Times New Roman" panose="02020603050405020304" pitchFamily="18" charset="0"/>
              </a:rPr>
              <a:t>Example:</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x = </a:t>
            </a:r>
            <a:r>
              <a:rPr lang="en-US" sz="2400" dirty="0" err="1">
                <a:latin typeface="Times New Roman" panose="02020603050405020304" pitchFamily="18" charset="0"/>
                <a:cs typeface="Times New Roman" panose="02020603050405020304" pitchFamily="18" charset="0"/>
              </a:rPr>
              <a:t>ababb</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y = </a:t>
            </a:r>
            <a:r>
              <a:rPr lang="en-US" sz="2400" dirty="0" err="1">
                <a:latin typeface="Times New Roman" panose="02020603050405020304" pitchFamily="18" charset="0"/>
                <a:cs typeface="Times New Roman" panose="02020603050405020304" pitchFamily="18" charset="0"/>
              </a:rPr>
              <a:t>aabba</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b="1" dirty="0">
                <a:latin typeface="Times New Roman" panose="02020603050405020304" pitchFamily="18" charset="0"/>
                <a:cs typeface="Times New Roman" panose="02020603050405020304" pitchFamily="18" charset="0"/>
              </a:rPr>
              <a:t>Then,</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xy=</a:t>
            </a:r>
            <a:r>
              <a:rPr lang="en-US" sz="2400" dirty="0" err="1">
                <a:latin typeface="Times New Roman" panose="02020603050405020304" pitchFamily="18" charset="0"/>
                <a:cs typeface="Times New Roman" panose="02020603050405020304" pitchFamily="18" charset="0"/>
              </a:rPr>
              <a:t>ababbaabba</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Also,</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∣xy∣=∣x∣+∣y∣</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34</a:t>
            </a:fld>
            <a:endParaRPr lang="en-US" altLang="en-US"/>
          </a:p>
        </p:txBody>
      </p:sp>
    </p:spTree>
    <p:extLst>
      <p:ext uri="{BB962C8B-B14F-4D97-AF65-F5344CB8AC3E}">
        <p14:creationId xmlns:p14="http://schemas.microsoft.com/office/powerpoint/2010/main" val="28519565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Basic Notation and Definitions</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marL="0" indent="0">
              <a:lnSpc>
                <a:spcPct val="100000"/>
              </a:lnSpc>
              <a:spcBef>
                <a:spcPts val="0"/>
              </a:spcBef>
              <a:buNone/>
            </a:pPr>
            <a:r>
              <a:rPr lang="en-US" sz="2400" b="1" dirty="0">
                <a:latin typeface="Times New Roman" panose="02020603050405020304" pitchFamily="18" charset="0"/>
                <a:cs typeface="Times New Roman" panose="02020603050405020304" pitchFamily="18" charset="0"/>
              </a:rPr>
              <a:t>9) Prefix and Suffix:</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Any strings formed using the leading symbols of a given string are called the </a:t>
            </a:r>
            <a:r>
              <a:rPr lang="en-US" sz="2400" b="1" dirty="0">
                <a:latin typeface="Times New Roman" panose="02020603050405020304" pitchFamily="18" charset="0"/>
                <a:cs typeface="Times New Roman" panose="02020603050405020304" pitchFamily="18" charset="0"/>
              </a:rPr>
              <a:t>prefixes of the string.</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Any strings formed using the trailing symbols of a given string are called the </a:t>
            </a:r>
            <a:r>
              <a:rPr lang="en-US" sz="2400" b="1" dirty="0">
                <a:latin typeface="Times New Roman" panose="02020603050405020304" pitchFamily="18" charset="0"/>
                <a:cs typeface="Times New Roman" panose="02020603050405020304" pitchFamily="18" charset="0"/>
              </a:rPr>
              <a:t>suffixes of the string.</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b="1" dirty="0">
                <a:latin typeface="Times New Roman" panose="02020603050405020304" pitchFamily="18" charset="0"/>
                <a:cs typeface="Times New Roman" panose="02020603050405020304" pitchFamily="18" charset="0"/>
              </a:rPr>
              <a:t>Example:</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If W = "</a:t>
            </a:r>
            <a:r>
              <a:rPr lang="en-US" sz="2400" dirty="0" err="1">
                <a:latin typeface="Times New Roman" panose="02020603050405020304" pitchFamily="18" charset="0"/>
                <a:cs typeface="Times New Roman" panose="02020603050405020304" pitchFamily="18" charset="0"/>
              </a:rPr>
              <a:t>kongu</a:t>
            </a:r>
            <a:r>
              <a:rPr lang="en-US" sz="2400" dirty="0">
                <a:latin typeface="Times New Roman" panose="02020603050405020304" pitchFamily="18" charset="0"/>
                <a:cs typeface="Times New Roman" panose="02020603050405020304" pitchFamily="18" charset="0"/>
              </a:rPr>
              <a:t>", then</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Prefix(W) = {ε, k, ko, </a:t>
            </a:r>
            <a:r>
              <a:rPr lang="en-US" sz="2400" dirty="0" err="1">
                <a:latin typeface="Times New Roman" panose="02020603050405020304" pitchFamily="18" charset="0"/>
                <a:cs typeface="Times New Roman" panose="02020603050405020304" pitchFamily="18" charset="0"/>
              </a:rPr>
              <a:t>kon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kongu</a:t>
            </a:r>
            <a:r>
              <a:rPr lang="en-US" sz="2400" dirty="0">
                <a:latin typeface="Times New Roman" panose="02020603050405020304" pitchFamily="18" charset="0"/>
                <a:cs typeface="Times New Roman" panose="02020603050405020304" pitchFamily="18" charset="0"/>
              </a:rPr>
              <a:t>}</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Suffix(W) = {ε, u, </a:t>
            </a:r>
            <a:r>
              <a:rPr lang="en-US" sz="2400" dirty="0" err="1">
                <a:latin typeface="Times New Roman" panose="02020603050405020304" pitchFamily="18" charset="0"/>
                <a:cs typeface="Times New Roman" panose="02020603050405020304" pitchFamily="18" charset="0"/>
              </a:rPr>
              <a:t>gu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ongu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kongu</a:t>
            </a:r>
            <a:r>
              <a:rPr lang="en-US" sz="2400" dirty="0">
                <a:latin typeface="Times New Roman" panose="02020603050405020304" pitchFamily="18"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35</a:t>
            </a:fld>
            <a:endParaRPr lang="en-US" altLang="en-US"/>
          </a:p>
        </p:txBody>
      </p:sp>
    </p:spTree>
    <p:extLst>
      <p:ext uri="{BB962C8B-B14F-4D97-AF65-F5344CB8AC3E}">
        <p14:creationId xmlns:p14="http://schemas.microsoft.com/office/powerpoint/2010/main" val="14551680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Basic Notation and Definitions</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marL="0" indent="0">
              <a:lnSpc>
                <a:spcPct val="100000"/>
              </a:lnSpc>
              <a:spcBef>
                <a:spcPts val="0"/>
              </a:spcBef>
              <a:buNone/>
            </a:pPr>
            <a:r>
              <a:rPr lang="en-US" sz="2400" b="1" dirty="0">
                <a:latin typeface="Times New Roman" panose="02020603050405020304" pitchFamily="18" charset="0"/>
                <a:cs typeface="Times New Roman" panose="02020603050405020304" pitchFamily="18" charset="0"/>
              </a:rPr>
              <a:t>10) Substring</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a substring is obtained by selecting consecutive characters from a given string without changing their order.</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W="make"</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The substrings of W are:</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Length 0: ε (empty string)</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Length 1: m, a, k, e</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Length 2: ma, </a:t>
            </a:r>
            <a:r>
              <a:rPr lang="en-US" sz="2400" dirty="0" err="1">
                <a:latin typeface="Times New Roman" panose="02020603050405020304" pitchFamily="18" charset="0"/>
                <a:cs typeface="Times New Roman" panose="02020603050405020304" pitchFamily="18" charset="0"/>
              </a:rPr>
              <a:t>ak</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ke</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Length 3: </a:t>
            </a:r>
            <a:r>
              <a:rPr lang="en-US" sz="2400" dirty="0" err="1">
                <a:latin typeface="Times New Roman" panose="02020603050405020304" pitchFamily="18" charset="0"/>
                <a:cs typeface="Times New Roman" panose="02020603050405020304" pitchFamily="18" charset="0"/>
              </a:rPr>
              <a:t>mak</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ake</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Length 4: make    (Every string is a substring of itself.)</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36</a:t>
            </a:fld>
            <a:endParaRPr lang="en-US" altLang="en-US"/>
          </a:p>
        </p:txBody>
      </p:sp>
      <p:graphicFrame>
        <p:nvGraphicFramePr>
          <p:cNvPr id="5" name="Table 4">
            <a:extLst>
              <a:ext uri="{FF2B5EF4-FFF2-40B4-BE49-F238E27FC236}">
                <a16:creationId xmlns:a16="http://schemas.microsoft.com/office/drawing/2014/main" id="{5C6ACF57-4079-4ECF-AF7B-8D9EFEDAC536}"/>
              </a:ext>
            </a:extLst>
          </p:cNvPr>
          <p:cNvGraphicFramePr>
            <a:graphicFrameLocks noGrp="1"/>
          </p:cNvGraphicFramePr>
          <p:nvPr>
            <p:extLst>
              <p:ext uri="{D42A27DB-BD31-4B8C-83A1-F6EECF244321}">
                <p14:modId xmlns:p14="http://schemas.microsoft.com/office/powerpoint/2010/main" val="1319630618"/>
              </p:ext>
            </p:extLst>
          </p:nvPr>
        </p:nvGraphicFramePr>
        <p:xfrm>
          <a:off x="8305800" y="2057400"/>
          <a:ext cx="3505200" cy="2194560"/>
        </p:xfrm>
        <a:graphic>
          <a:graphicData uri="http://schemas.openxmlformats.org/drawingml/2006/table">
            <a:tbl>
              <a:tblPr/>
              <a:tblGrid>
                <a:gridCol w="1168400">
                  <a:extLst>
                    <a:ext uri="{9D8B030D-6E8A-4147-A177-3AD203B41FA5}">
                      <a16:colId xmlns:a16="http://schemas.microsoft.com/office/drawing/2014/main" val="1305205631"/>
                    </a:ext>
                  </a:extLst>
                </a:gridCol>
                <a:gridCol w="1168400">
                  <a:extLst>
                    <a:ext uri="{9D8B030D-6E8A-4147-A177-3AD203B41FA5}">
                      <a16:colId xmlns:a16="http://schemas.microsoft.com/office/drawing/2014/main" val="1962667125"/>
                    </a:ext>
                  </a:extLst>
                </a:gridCol>
                <a:gridCol w="1168400">
                  <a:extLst>
                    <a:ext uri="{9D8B030D-6E8A-4147-A177-3AD203B41FA5}">
                      <a16:colId xmlns:a16="http://schemas.microsoft.com/office/drawing/2014/main" val="565574669"/>
                    </a:ext>
                  </a:extLst>
                </a:gridCol>
              </a:tblGrid>
              <a:tr h="0">
                <a:tc>
                  <a:txBody>
                    <a:bodyPr/>
                    <a:lstStyle/>
                    <a:p>
                      <a:r>
                        <a:rPr lang="en-IN"/>
                        <a:t>Length</a:t>
                      </a:r>
                    </a:p>
                  </a:txBody>
                  <a:tcPr anchor="ctr">
                    <a:lnL>
                      <a:noFill/>
                    </a:lnL>
                    <a:lnR>
                      <a:noFill/>
                    </a:lnR>
                    <a:lnT>
                      <a:noFill/>
                    </a:lnT>
                    <a:lnB>
                      <a:noFill/>
                    </a:lnB>
                  </a:tcPr>
                </a:tc>
                <a:tc>
                  <a:txBody>
                    <a:bodyPr/>
                    <a:lstStyle/>
                    <a:p>
                      <a:r>
                        <a:rPr lang="en-IN"/>
                        <a:t>Substrings</a:t>
                      </a:r>
                    </a:p>
                  </a:txBody>
                  <a:tcPr anchor="ctr">
                    <a:lnL>
                      <a:noFill/>
                    </a:lnL>
                    <a:lnR>
                      <a:noFill/>
                    </a:lnR>
                    <a:lnT>
                      <a:noFill/>
                    </a:lnT>
                    <a:lnB>
                      <a:noFill/>
                    </a:lnB>
                  </a:tcPr>
                </a:tc>
                <a:tc>
                  <a:txBody>
                    <a:bodyPr/>
                    <a:lstStyle/>
                    <a:p>
                      <a:pPr algn="r"/>
                      <a:r>
                        <a:rPr lang="en-IN"/>
                        <a:t>Count</a:t>
                      </a:r>
                    </a:p>
                  </a:txBody>
                  <a:tcPr anchor="ctr">
                    <a:lnL>
                      <a:noFill/>
                    </a:lnL>
                    <a:lnR>
                      <a:noFill/>
                    </a:lnR>
                    <a:lnT>
                      <a:noFill/>
                    </a:lnT>
                    <a:lnB>
                      <a:noFill/>
                    </a:lnB>
                  </a:tcPr>
                </a:tc>
                <a:extLst>
                  <a:ext uri="{0D108BD9-81ED-4DB2-BD59-A6C34878D82A}">
                    <a16:rowId xmlns:a16="http://schemas.microsoft.com/office/drawing/2014/main" val="2097643865"/>
                  </a:ext>
                </a:extLst>
              </a:tr>
              <a:tr h="0">
                <a:tc>
                  <a:txBody>
                    <a:bodyPr/>
                    <a:lstStyle/>
                    <a:p>
                      <a:r>
                        <a:rPr lang="en-IN"/>
                        <a:t>0</a:t>
                      </a:r>
                    </a:p>
                  </a:txBody>
                  <a:tcPr anchor="ctr">
                    <a:lnL>
                      <a:noFill/>
                    </a:lnL>
                    <a:lnR>
                      <a:noFill/>
                    </a:lnR>
                    <a:lnT>
                      <a:noFill/>
                    </a:lnT>
                    <a:lnB>
                      <a:noFill/>
                    </a:lnB>
                  </a:tcPr>
                </a:tc>
                <a:tc>
                  <a:txBody>
                    <a:bodyPr/>
                    <a:lstStyle/>
                    <a:p>
                      <a:r>
                        <a:rPr lang="el-GR"/>
                        <a:t>ε</a:t>
                      </a:r>
                    </a:p>
                  </a:txBody>
                  <a:tcPr anchor="ctr">
                    <a:lnL>
                      <a:noFill/>
                    </a:lnL>
                    <a:lnR>
                      <a:noFill/>
                    </a:lnR>
                    <a:lnT>
                      <a:noFill/>
                    </a:lnT>
                    <a:lnB>
                      <a:noFill/>
                    </a:lnB>
                  </a:tcPr>
                </a:tc>
                <a:tc>
                  <a:txBody>
                    <a:bodyPr/>
                    <a:lstStyle/>
                    <a:p>
                      <a:pPr algn="r"/>
                      <a:r>
                        <a:rPr lang="en-IN"/>
                        <a:t>1</a:t>
                      </a:r>
                    </a:p>
                  </a:txBody>
                  <a:tcPr anchor="ctr">
                    <a:lnL>
                      <a:noFill/>
                    </a:lnL>
                    <a:lnR>
                      <a:noFill/>
                    </a:lnR>
                    <a:lnT>
                      <a:noFill/>
                    </a:lnT>
                    <a:lnB>
                      <a:noFill/>
                    </a:lnB>
                  </a:tcPr>
                </a:tc>
                <a:extLst>
                  <a:ext uri="{0D108BD9-81ED-4DB2-BD59-A6C34878D82A}">
                    <a16:rowId xmlns:a16="http://schemas.microsoft.com/office/drawing/2014/main" val="2502505021"/>
                  </a:ext>
                </a:extLst>
              </a:tr>
              <a:tr h="0">
                <a:tc>
                  <a:txBody>
                    <a:bodyPr/>
                    <a:lstStyle/>
                    <a:p>
                      <a:r>
                        <a:rPr lang="en-IN"/>
                        <a:t>1</a:t>
                      </a:r>
                    </a:p>
                  </a:txBody>
                  <a:tcPr anchor="ctr">
                    <a:lnL>
                      <a:noFill/>
                    </a:lnL>
                    <a:lnR>
                      <a:noFill/>
                    </a:lnR>
                    <a:lnT>
                      <a:noFill/>
                    </a:lnT>
                    <a:lnB>
                      <a:noFill/>
                    </a:lnB>
                  </a:tcPr>
                </a:tc>
                <a:tc>
                  <a:txBody>
                    <a:bodyPr/>
                    <a:lstStyle/>
                    <a:p>
                      <a:r>
                        <a:rPr lang="en-IN"/>
                        <a:t>m, a, k, e</a:t>
                      </a:r>
                    </a:p>
                  </a:txBody>
                  <a:tcPr anchor="ctr">
                    <a:lnL>
                      <a:noFill/>
                    </a:lnL>
                    <a:lnR>
                      <a:noFill/>
                    </a:lnR>
                    <a:lnT>
                      <a:noFill/>
                    </a:lnT>
                    <a:lnB>
                      <a:noFill/>
                    </a:lnB>
                  </a:tcPr>
                </a:tc>
                <a:tc>
                  <a:txBody>
                    <a:bodyPr/>
                    <a:lstStyle/>
                    <a:p>
                      <a:pPr algn="r"/>
                      <a:r>
                        <a:rPr lang="en-IN"/>
                        <a:t>4</a:t>
                      </a:r>
                    </a:p>
                  </a:txBody>
                  <a:tcPr anchor="ctr">
                    <a:lnL>
                      <a:noFill/>
                    </a:lnL>
                    <a:lnR>
                      <a:noFill/>
                    </a:lnR>
                    <a:lnT>
                      <a:noFill/>
                    </a:lnT>
                    <a:lnB>
                      <a:noFill/>
                    </a:lnB>
                  </a:tcPr>
                </a:tc>
                <a:extLst>
                  <a:ext uri="{0D108BD9-81ED-4DB2-BD59-A6C34878D82A}">
                    <a16:rowId xmlns:a16="http://schemas.microsoft.com/office/drawing/2014/main" val="2701641186"/>
                  </a:ext>
                </a:extLst>
              </a:tr>
              <a:tr h="0">
                <a:tc>
                  <a:txBody>
                    <a:bodyPr/>
                    <a:lstStyle/>
                    <a:p>
                      <a:r>
                        <a:rPr lang="en-IN"/>
                        <a:t>2</a:t>
                      </a:r>
                    </a:p>
                  </a:txBody>
                  <a:tcPr anchor="ctr">
                    <a:lnL>
                      <a:noFill/>
                    </a:lnL>
                    <a:lnR>
                      <a:noFill/>
                    </a:lnR>
                    <a:lnT>
                      <a:noFill/>
                    </a:lnT>
                    <a:lnB>
                      <a:noFill/>
                    </a:lnB>
                  </a:tcPr>
                </a:tc>
                <a:tc>
                  <a:txBody>
                    <a:bodyPr/>
                    <a:lstStyle/>
                    <a:p>
                      <a:r>
                        <a:rPr lang="en-IN"/>
                        <a:t>ma, ak, ke</a:t>
                      </a:r>
                    </a:p>
                  </a:txBody>
                  <a:tcPr anchor="ctr">
                    <a:lnL>
                      <a:noFill/>
                    </a:lnL>
                    <a:lnR>
                      <a:noFill/>
                    </a:lnR>
                    <a:lnT>
                      <a:noFill/>
                    </a:lnT>
                    <a:lnB>
                      <a:noFill/>
                    </a:lnB>
                  </a:tcPr>
                </a:tc>
                <a:tc>
                  <a:txBody>
                    <a:bodyPr/>
                    <a:lstStyle/>
                    <a:p>
                      <a:pPr algn="r"/>
                      <a:r>
                        <a:rPr lang="en-IN"/>
                        <a:t>3</a:t>
                      </a:r>
                    </a:p>
                  </a:txBody>
                  <a:tcPr anchor="ctr">
                    <a:lnL>
                      <a:noFill/>
                    </a:lnL>
                    <a:lnR>
                      <a:noFill/>
                    </a:lnR>
                    <a:lnT>
                      <a:noFill/>
                    </a:lnT>
                    <a:lnB>
                      <a:noFill/>
                    </a:lnB>
                  </a:tcPr>
                </a:tc>
                <a:extLst>
                  <a:ext uri="{0D108BD9-81ED-4DB2-BD59-A6C34878D82A}">
                    <a16:rowId xmlns:a16="http://schemas.microsoft.com/office/drawing/2014/main" val="724545393"/>
                  </a:ext>
                </a:extLst>
              </a:tr>
              <a:tr h="0">
                <a:tc>
                  <a:txBody>
                    <a:bodyPr/>
                    <a:lstStyle/>
                    <a:p>
                      <a:r>
                        <a:rPr lang="en-IN"/>
                        <a:t>3</a:t>
                      </a:r>
                    </a:p>
                  </a:txBody>
                  <a:tcPr anchor="ctr">
                    <a:lnL>
                      <a:noFill/>
                    </a:lnL>
                    <a:lnR>
                      <a:noFill/>
                    </a:lnR>
                    <a:lnT>
                      <a:noFill/>
                    </a:lnT>
                    <a:lnB>
                      <a:noFill/>
                    </a:lnB>
                  </a:tcPr>
                </a:tc>
                <a:tc>
                  <a:txBody>
                    <a:bodyPr/>
                    <a:lstStyle/>
                    <a:p>
                      <a:r>
                        <a:rPr lang="en-IN"/>
                        <a:t>mak, ake</a:t>
                      </a:r>
                    </a:p>
                  </a:txBody>
                  <a:tcPr anchor="ctr">
                    <a:lnL>
                      <a:noFill/>
                    </a:lnL>
                    <a:lnR>
                      <a:noFill/>
                    </a:lnR>
                    <a:lnT>
                      <a:noFill/>
                    </a:lnT>
                    <a:lnB>
                      <a:noFill/>
                    </a:lnB>
                  </a:tcPr>
                </a:tc>
                <a:tc>
                  <a:txBody>
                    <a:bodyPr/>
                    <a:lstStyle/>
                    <a:p>
                      <a:pPr algn="r"/>
                      <a:r>
                        <a:rPr lang="en-IN"/>
                        <a:t>2</a:t>
                      </a:r>
                    </a:p>
                  </a:txBody>
                  <a:tcPr anchor="ctr">
                    <a:lnL>
                      <a:noFill/>
                    </a:lnL>
                    <a:lnR>
                      <a:noFill/>
                    </a:lnR>
                    <a:lnT>
                      <a:noFill/>
                    </a:lnT>
                    <a:lnB>
                      <a:noFill/>
                    </a:lnB>
                  </a:tcPr>
                </a:tc>
                <a:extLst>
                  <a:ext uri="{0D108BD9-81ED-4DB2-BD59-A6C34878D82A}">
                    <a16:rowId xmlns:a16="http://schemas.microsoft.com/office/drawing/2014/main" val="463688788"/>
                  </a:ext>
                </a:extLst>
              </a:tr>
              <a:tr h="0">
                <a:tc>
                  <a:txBody>
                    <a:bodyPr/>
                    <a:lstStyle/>
                    <a:p>
                      <a:r>
                        <a:rPr lang="en-IN"/>
                        <a:t>4</a:t>
                      </a:r>
                    </a:p>
                  </a:txBody>
                  <a:tcPr anchor="ctr">
                    <a:lnL>
                      <a:noFill/>
                    </a:lnL>
                    <a:lnR>
                      <a:noFill/>
                    </a:lnR>
                    <a:lnT>
                      <a:noFill/>
                    </a:lnT>
                    <a:lnB>
                      <a:noFill/>
                    </a:lnB>
                  </a:tcPr>
                </a:tc>
                <a:tc>
                  <a:txBody>
                    <a:bodyPr/>
                    <a:lstStyle/>
                    <a:p>
                      <a:r>
                        <a:rPr lang="en-IN"/>
                        <a:t>make</a:t>
                      </a:r>
                    </a:p>
                  </a:txBody>
                  <a:tcPr anchor="ctr">
                    <a:lnL>
                      <a:noFill/>
                    </a:lnL>
                    <a:lnR>
                      <a:noFill/>
                    </a:lnR>
                    <a:lnT>
                      <a:noFill/>
                    </a:lnT>
                    <a:lnB>
                      <a:noFill/>
                    </a:lnB>
                  </a:tcPr>
                </a:tc>
                <a:tc>
                  <a:txBody>
                    <a:bodyPr/>
                    <a:lstStyle/>
                    <a:p>
                      <a:pPr algn="r"/>
                      <a:r>
                        <a:rPr lang="en-IN" dirty="0"/>
                        <a:t>1</a:t>
                      </a:r>
                    </a:p>
                  </a:txBody>
                  <a:tcPr anchor="ctr">
                    <a:lnL>
                      <a:noFill/>
                    </a:lnL>
                    <a:lnR>
                      <a:noFill/>
                    </a:lnR>
                    <a:lnT>
                      <a:noFill/>
                    </a:lnT>
                    <a:lnB>
                      <a:noFill/>
                    </a:lnB>
                  </a:tcPr>
                </a:tc>
                <a:extLst>
                  <a:ext uri="{0D108BD9-81ED-4DB2-BD59-A6C34878D82A}">
                    <a16:rowId xmlns:a16="http://schemas.microsoft.com/office/drawing/2014/main" val="2138660748"/>
                  </a:ext>
                </a:extLst>
              </a:tr>
            </a:tbl>
          </a:graphicData>
        </a:graphic>
      </p:graphicFrame>
    </p:spTree>
    <p:extLst>
      <p:ext uri="{BB962C8B-B14F-4D97-AF65-F5344CB8AC3E}">
        <p14:creationId xmlns:p14="http://schemas.microsoft.com/office/powerpoint/2010/main" val="32146185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Basic Notation and Definitions</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marL="0" indent="0">
              <a:lnSpc>
                <a:spcPct val="100000"/>
              </a:lnSpc>
              <a:spcBef>
                <a:spcPts val="0"/>
              </a:spcBef>
              <a:buNone/>
            </a:pPr>
            <a:r>
              <a:rPr lang="en-US" sz="2400" b="1" dirty="0">
                <a:latin typeface="Times New Roman" panose="02020603050405020304" pitchFamily="18" charset="0"/>
                <a:cs typeface="Times New Roman" panose="02020603050405020304" pitchFamily="18" charset="0"/>
              </a:rPr>
              <a:t>10) Language</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a language is any collection of valid strings that are constructed using the symbols of an alphabet.</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Σ={0,1}</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L={Collection of Strings}</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Examples of Languages</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L1={ε,0,1}</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L2={10,01}</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L3={0,1,00,01,10,11,…}</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L4={}=∅         L₄ = ∅ is the empty language, which contains no strings.</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37</a:t>
            </a:fld>
            <a:endParaRPr lang="en-US" altLang="en-US"/>
          </a:p>
        </p:txBody>
      </p:sp>
    </p:spTree>
    <p:extLst>
      <p:ext uri="{BB962C8B-B14F-4D97-AF65-F5344CB8AC3E}">
        <p14:creationId xmlns:p14="http://schemas.microsoft.com/office/powerpoint/2010/main" val="23404992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Operation of Languages</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marL="0" indent="0">
              <a:lnSpc>
                <a:spcPct val="100000"/>
              </a:lnSpc>
              <a:spcBef>
                <a:spcPts val="0"/>
              </a:spcBef>
              <a:buNone/>
            </a:pPr>
            <a:r>
              <a:rPr lang="en-US" sz="2400" b="1" dirty="0">
                <a:latin typeface="Times New Roman" panose="02020603050405020304" pitchFamily="18" charset="0"/>
                <a:cs typeface="Times New Roman" panose="02020603050405020304" pitchFamily="18" charset="0"/>
              </a:rPr>
              <a:t>1) Union Operation</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The union of two languages L₁ and L₂ is the language containing all strings that belong to either L₁ or L₂ (or both).</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L1={</a:t>
            </a:r>
            <a:r>
              <a:rPr lang="en-US" sz="2400" dirty="0" err="1">
                <a:latin typeface="Times New Roman" panose="02020603050405020304" pitchFamily="18" charset="0"/>
                <a:cs typeface="Times New Roman" panose="02020603050405020304" pitchFamily="18" charset="0"/>
              </a:rPr>
              <a:t>a,ab,abc</a:t>
            </a:r>
            <a:r>
              <a:rPr lang="en-US" sz="2400" dirty="0">
                <a:latin typeface="Times New Roman" panose="02020603050405020304" pitchFamily="18" charset="0"/>
                <a:cs typeface="Times New Roman" panose="02020603050405020304" pitchFamily="18" charset="0"/>
              </a:rPr>
              <a:t>}</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L2={</a:t>
            </a:r>
            <a:r>
              <a:rPr lang="en-US" sz="2400" dirty="0" err="1">
                <a:latin typeface="Times New Roman" panose="02020603050405020304" pitchFamily="18" charset="0"/>
                <a:cs typeface="Times New Roman" panose="02020603050405020304" pitchFamily="18" charset="0"/>
              </a:rPr>
              <a:t>ab,b,bc</a:t>
            </a:r>
            <a:r>
              <a:rPr lang="en-US" sz="2400" dirty="0">
                <a:latin typeface="Times New Roman" panose="02020603050405020304" pitchFamily="18" charset="0"/>
                <a:cs typeface="Times New Roman" panose="02020603050405020304" pitchFamily="18" charset="0"/>
              </a:rPr>
              <a:t>}</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Then,</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L1∪L2={</a:t>
            </a:r>
            <a:r>
              <a:rPr lang="en-US" sz="2400" dirty="0" err="1">
                <a:latin typeface="Times New Roman" panose="02020603050405020304" pitchFamily="18" charset="0"/>
                <a:cs typeface="Times New Roman" panose="02020603050405020304" pitchFamily="18" charset="0"/>
              </a:rPr>
              <a:t>a,ab,abc,b,bc</a:t>
            </a:r>
            <a:r>
              <a:rPr lang="en-US" sz="2400" dirty="0">
                <a:latin typeface="Times New Roman" panose="02020603050405020304" pitchFamily="18" charset="0"/>
                <a:cs typeface="Times New Roman" panose="02020603050405020304" pitchFamily="18" charset="0"/>
              </a:rPr>
              <a:t>}</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Note: The string ab appears only once because a language is a set, and sets do not contain duplicate elements.</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38</a:t>
            </a:fld>
            <a:endParaRPr lang="en-US" altLang="en-US"/>
          </a:p>
        </p:txBody>
      </p:sp>
    </p:spTree>
    <p:extLst>
      <p:ext uri="{BB962C8B-B14F-4D97-AF65-F5344CB8AC3E}">
        <p14:creationId xmlns:p14="http://schemas.microsoft.com/office/powerpoint/2010/main" val="1214680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Operation of Languages</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marL="0" indent="0">
              <a:lnSpc>
                <a:spcPct val="100000"/>
              </a:lnSpc>
              <a:spcBef>
                <a:spcPts val="0"/>
              </a:spcBef>
              <a:buNone/>
            </a:pPr>
            <a:r>
              <a:rPr lang="en-US" sz="2400" b="1" dirty="0">
                <a:latin typeface="Times New Roman" panose="02020603050405020304" pitchFamily="18" charset="0"/>
                <a:cs typeface="Times New Roman" panose="02020603050405020304" pitchFamily="18" charset="0"/>
              </a:rPr>
              <a:t>2) Concatenation Operation</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The concatenation of two languages L₁ and L₂ is the language obtained by concatenating every string of L₁ with every string of L₂.</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Let</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L1={</a:t>
            </a:r>
            <a:r>
              <a:rPr lang="en-US" sz="2400" dirty="0" err="1">
                <a:latin typeface="Times New Roman" panose="02020603050405020304" pitchFamily="18" charset="0"/>
                <a:cs typeface="Times New Roman" panose="02020603050405020304" pitchFamily="18" charset="0"/>
              </a:rPr>
              <a:t>a,ab</a:t>
            </a:r>
            <a:r>
              <a:rPr lang="en-US" sz="2400" dirty="0">
                <a:latin typeface="Times New Roman" panose="02020603050405020304" pitchFamily="18" charset="0"/>
                <a:cs typeface="Times New Roman" panose="02020603050405020304" pitchFamily="18" charset="0"/>
              </a:rPr>
              <a:t>}</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L2={</a:t>
            </a:r>
            <a:r>
              <a:rPr lang="en-US" sz="2400" dirty="0" err="1">
                <a:latin typeface="Times New Roman" panose="02020603050405020304" pitchFamily="18" charset="0"/>
                <a:cs typeface="Times New Roman" panose="02020603050405020304" pitchFamily="18" charset="0"/>
              </a:rPr>
              <a:t>b,ba</a:t>
            </a:r>
            <a:r>
              <a:rPr lang="en-US" sz="2400" dirty="0">
                <a:latin typeface="Times New Roman" panose="02020603050405020304" pitchFamily="18" charset="0"/>
                <a:cs typeface="Times New Roman" panose="02020603050405020304" pitchFamily="18" charset="0"/>
              </a:rPr>
              <a:t>}</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Then,</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L1.L2={</a:t>
            </a:r>
            <a:r>
              <a:rPr lang="en-US" sz="2400" dirty="0" err="1">
                <a:latin typeface="Times New Roman" panose="02020603050405020304" pitchFamily="18" charset="0"/>
                <a:cs typeface="Times New Roman" panose="02020603050405020304" pitchFamily="18" charset="0"/>
              </a:rPr>
              <a:t>ab,aba,abb,abba</a:t>
            </a:r>
            <a:r>
              <a:rPr lang="en-US" sz="2400" dirty="0">
                <a:latin typeface="Times New Roman" panose="02020603050405020304" pitchFamily="18"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39</a:t>
            </a:fld>
            <a:endParaRPr lang="en-US" altLang="en-US"/>
          </a:p>
        </p:txBody>
      </p:sp>
    </p:spTree>
    <p:extLst>
      <p:ext uri="{BB962C8B-B14F-4D97-AF65-F5344CB8AC3E}">
        <p14:creationId xmlns:p14="http://schemas.microsoft.com/office/powerpoint/2010/main" val="35435704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Operation of Languages</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marL="0" indent="0">
              <a:lnSpc>
                <a:spcPct val="100000"/>
              </a:lnSpc>
              <a:spcBef>
                <a:spcPts val="0"/>
              </a:spcBef>
              <a:buNone/>
            </a:pPr>
            <a:r>
              <a:rPr lang="en-US" sz="2400" b="1" dirty="0">
                <a:latin typeface="Times New Roman" panose="02020603050405020304" pitchFamily="18" charset="0"/>
                <a:cs typeface="Times New Roman" panose="02020603050405020304" pitchFamily="18" charset="0"/>
              </a:rPr>
              <a:t>3) Intersection Operation</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The intersection of two languages L₁ and L₂ is the language consisting of all strings that are common to both L₁ and L₂.</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Let</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L1={</a:t>
            </a:r>
            <a:r>
              <a:rPr lang="en-US" sz="2400" dirty="0" err="1">
                <a:latin typeface="Times New Roman" panose="02020603050405020304" pitchFamily="18" charset="0"/>
                <a:cs typeface="Times New Roman" panose="02020603050405020304" pitchFamily="18" charset="0"/>
              </a:rPr>
              <a:t>a,ab,abc,b</a:t>
            </a:r>
            <a:r>
              <a:rPr lang="en-US" sz="2400" dirty="0">
                <a:latin typeface="Times New Roman" panose="02020603050405020304" pitchFamily="18" charset="0"/>
                <a:cs typeface="Times New Roman" panose="02020603050405020304" pitchFamily="18" charset="0"/>
              </a:rPr>
              <a:t>}</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L2={</a:t>
            </a:r>
            <a:r>
              <a:rPr lang="en-US" sz="2400" dirty="0" err="1">
                <a:latin typeface="Times New Roman" panose="02020603050405020304" pitchFamily="18" charset="0"/>
                <a:cs typeface="Times New Roman" panose="02020603050405020304" pitchFamily="18" charset="0"/>
              </a:rPr>
              <a:t>ab,b,bc</a:t>
            </a:r>
            <a:r>
              <a:rPr lang="en-US" sz="2400" dirty="0">
                <a:latin typeface="Times New Roman" panose="02020603050405020304" pitchFamily="18" charset="0"/>
                <a:cs typeface="Times New Roman" panose="02020603050405020304" pitchFamily="18" charset="0"/>
              </a:rPr>
              <a:t>}</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Then,</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L1∩L2={</a:t>
            </a:r>
            <a:r>
              <a:rPr lang="en-US" sz="2400" dirty="0" err="1">
                <a:latin typeface="Times New Roman" panose="02020603050405020304" pitchFamily="18" charset="0"/>
                <a:cs typeface="Times New Roman" panose="02020603050405020304" pitchFamily="18" charset="0"/>
              </a:rPr>
              <a:t>ab,b</a:t>
            </a:r>
            <a:r>
              <a:rPr lang="en-US" sz="2400" dirty="0">
                <a:latin typeface="Times New Roman" panose="02020603050405020304" pitchFamily="18"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40</a:t>
            </a:fld>
            <a:endParaRPr lang="en-US" altLang="en-US"/>
          </a:p>
        </p:txBody>
      </p:sp>
    </p:spTree>
    <p:extLst>
      <p:ext uri="{BB962C8B-B14F-4D97-AF65-F5344CB8AC3E}">
        <p14:creationId xmlns:p14="http://schemas.microsoft.com/office/powerpoint/2010/main" val="6307288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Operation of Languages</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marL="0" indent="0">
              <a:lnSpc>
                <a:spcPct val="100000"/>
              </a:lnSpc>
              <a:spcBef>
                <a:spcPts val="0"/>
              </a:spcBef>
              <a:buNone/>
            </a:pPr>
            <a:r>
              <a:rPr lang="en-US" sz="2400" b="1" dirty="0">
                <a:latin typeface="Times New Roman" panose="02020603050405020304" pitchFamily="18" charset="0"/>
                <a:cs typeface="Times New Roman" panose="02020603050405020304" pitchFamily="18" charset="0"/>
              </a:rPr>
              <a:t>4) Reverse of a Language: </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The reverse of a language L is the language obtained by reversing every string in L. It is defined as</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L={0,1,10}    </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Then</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Reverse of the Language={0,1,01}</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41</a:t>
            </a:fld>
            <a:endParaRPr lang="en-US" altLang="en-US"/>
          </a:p>
        </p:txBody>
      </p:sp>
    </p:spTree>
    <p:extLst>
      <p:ext uri="{BB962C8B-B14F-4D97-AF65-F5344CB8AC3E}">
        <p14:creationId xmlns:p14="http://schemas.microsoft.com/office/powerpoint/2010/main" val="641598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Operation of Languages</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marL="0" indent="0">
              <a:lnSpc>
                <a:spcPct val="100000"/>
              </a:lnSpc>
              <a:spcBef>
                <a:spcPts val="0"/>
              </a:spcBef>
              <a:buNone/>
            </a:pPr>
            <a:r>
              <a:rPr lang="en-US" sz="2400" b="1" dirty="0">
                <a:latin typeface="Times New Roman" panose="02020603050405020304" pitchFamily="18" charset="0"/>
                <a:cs typeface="Times New Roman" panose="02020603050405020304" pitchFamily="18" charset="0"/>
              </a:rPr>
              <a:t>4) Difference of a Language: </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The difference of two languages L₁ and L₂ is the language containing all strings that belong to L₁ but do not belong to L₂.                 </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L1={</a:t>
            </a:r>
            <a:r>
              <a:rPr lang="en-US" sz="2400" dirty="0" err="1">
                <a:latin typeface="Times New Roman" panose="02020603050405020304" pitchFamily="18" charset="0"/>
                <a:cs typeface="Times New Roman" panose="02020603050405020304" pitchFamily="18" charset="0"/>
              </a:rPr>
              <a:t>a,ab,abc,b</a:t>
            </a:r>
            <a:r>
              <a:rPr lang="en-US" sz="2400" dirty="0">
                <a:latin typeface="Times New Roman" panose="02020603050405020304" pitchFamily="18" charset="0"/>
                <a:cs typeface="Times New Roman" panose="02020603050405020304" pitchFamily="18" charset="0"/>
              </a:rPr>
              <a:t>}</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L2={</a:t>
            </a:r>
            <a:r>
              <a:rPr lang="en-US" sz="2400" dirty="0" err="1">
                <a:latin typeface="Times New Roman" panose="02020603050405020304" pitchFamily="18" charset="0"/>
                <a:cs typeface="Times New Roman" panose="02020603050405020304" pitchFamily="18" charset="0"/>
              </a:rPr>
              <a:t>ab,b,bc</a:t>
            </a:r>
            <a:r>
              <a:rPr lang="en-US" sz="2400" dirty="0">
                <a:latin typeface="Times New Roman" panose="02020603050405020304" pitchFamily="18" charset="0"/>
                <a:cs typeface="Times New Roman" panose="02020603050405020304" pitchFamily="18" charset="0"/>
              </a:rPr>
              <a:t>}</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Then,</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L1−L2={</a:t>
            </a:r>
            <a:r>
              <a:rPr lang="en-US" sz="2400" dirty="0" err="1">
                <a:latin typeface="Times New Roman" panose="02020603050405020304" pitchFamily="18" charset="0"/>
                <a:cs typeface="Times New Roman" panose="02020603050405020304" pitchFamily="18" charset="0"/>
              </a:rPr>
              <a:t>a,abc</a:t>
            </a:r>
            <a:r>
              <a:rPr lang="en-US" sz="2400" dirty="0">
                <a:latin typeface="Times New Roman" panose="02020603050405020304" pitchFamily="18"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42</a:t>
            </a:fld>
            <a:endParaRPr lang="en-US" altLang="en-US"/>
          </a:p>
        </p:txBody>
      </p:sp>
    </p:spTree>
    <p:extLst>
      <p:ext uri="{BB962C8B-B14F-4D97-AF65-F5344CB8AC3E}">
        <p14:creationId xmlns:p14="http://schemas.microsoft.com/office/powerpoint/2010/main" val="4556995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Operation of Languages</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marL="0" indent="0">
              <a:lnSpc>
                <a:spcPct val="100000"/>
              </a:lnSpc>
              <a:spcBef>
                <a:spcPts val="0"/>
              </a:spcBef>
              <a:buNone/>
            </a:pPr>
            <a:r>
              <a:rPr lang="en-US" sz="2400" b="1" dirty="0">
                <a:latin typeface="Times New Roman" panose="02020603050405020304" pitchFamily="18" charset="0"/>
                <a:cs typeface="Times New Roman" panose="02020603050405020304" pitchFamily="18" charset="0"/>
              </a:rPr>
              <a:t>5) Complement of a Language</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The complement of a language L is the set of all strings over the alphabet Σ that are not in L.</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 Σ* </a:t>
            </a:r>
            <a:r>
              <a:rPr lang="el-GR"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L​</a:t>
            </a:r>
          </a:p>
          <a:p>
            <a:pPr marL="0" indent="0">
              <a:lnSpc>
                <a:spcPct val="10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where:</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Σ = Alphabet</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Σ∗ = Set of all possible strings (including ε) over Σ</a:t>
            </a:r>
          </a:p>
          <a:p>
            <a:pPr marL="0" indent="0">
              <a:lnSpc>
                <a:spcPct val="100000"/>
              </a:lnSpc>
              <a:spcBef>
                <a:spcPts val="0"/>
              </a:spcBef>
              <a:buNone/>
            </a:pPr>
            <a:r>
              <a:rPr lang="en-US" sz="2400" dirty="0">
                <a:latin typeface="Times New Roman" panose="02020603050405020304" pitchFamily="18" charset="0"/>
                <a:cs typeface="Times New Roman" panose="02020603050405020304" pitchFamily="18" charset="0"/>
              </a:rPr>
              <a:t>	L = Given language</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43</a:t>
            </a:fld>
            <a:endParaRPr lang="en-US" altLang="en-US"/>
          </a:p>
        </p:txBody>
      </p:sp>
    </p:spTree>
    <p:extLst>
      <p:ext uri="{BB962C8B-B14F-4D97-AF65-F5344CB8AC3E}">
        <p14:creationId xmlns:p14="http://schemas.microsoft.com/office/powerpoint/2010/main" val="28235565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a:spcBef>
                <a:spcPts val="1800"/>
              </a:spcBef>
            </a:pPr>
            <a:r>
              <a:rPr lang="en-US" dirty="0">
                <a:latin typeface="Times New Roman" panose="02020603050405020304" pitchFamily="18" charset="0"/>
                <a:cs typeface="Times New Roman" panose="02020603050405020304" pitchFamily="18" charset="0"/>
              </a:rPr>
              <a:t>Representation of Automata</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An automaton can be represented in several ways to describe its states, inputs, and transitions. </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The four common representations are:</a:t>
            </a:r>
          </a:p>
          <a:p>
            <a:pPr>
              <a:lnSpc>
                <a:spcPct val="150000"/>
              </a:lnSpc>
              <a:spcBef>
                <a:spcPts val="0"/>
              </a:spcBef>
            </a:pPr>
            <a:r>
              <a:rPr lang="en-US" sz="2400" dirty="0">
                <a:latin typeface="Times New Roman" panose="02020603050405020304" pitchFamily="18" charset="0"/>
                <a:cs typeface="Times New Roman" panose="02020603050405020304" pitchFamily="18" charset="0"/>
              </a:rPr>
              <a:t>Mathematical Representation (5-tuple)</a:t>
            </a:r>
          </a:p>
          <a:p>
            <a:pPr>
              <a:lnSpc>
                <a:spcPct val="150000"/>
              </a:lnSpc>
              <a:spcBef>
                <a:spcPts val="0"/>
              </a:spcBef>
            </a:pPr>
            <a:r>
              <a:rPr lang="en-US" sz="2400" dirty="0">
                <a:latin typeface="Times New Roman" panose="02020603050405020304" pitchFamily="18" charset="0"/>
                <a:cs typeface="Times New Roman" panose="02020603050405020304" pitchFamily="18" charset="0"/>
              </a:rPr>
              <a:t>State Diagram (Transition Diagram)</a:t>
            </a:r>
          </a:p>
          <a:p>
            <a:pPr>
              <a:lnSpc>
                <a:spcPct val="150000"/>
              </a:lnSpc>
              <a:spcBef>
                <a:spcPts val="0"/>
              </a:spcBef>
            </a:pPr>
            <a:r>
              <a:rPr lang="en-US" sz="2400" dirty="0">
                <a:latin typeface="Times New Roman" panose="02020603050405020304" pitchFamily="18" charset="0"/>
                <a:cs typeface="Times New Roman" panose="02020603050405020304" pitchFamily="18" charset="0"/>
              </a:rPr>
              <a:t>Transition Table</a:t>
            </a:r>
          </a:p>
          <a:p>
            <a:pPr>
              <a:lnSpc>
                <a:spcPct val="150000"/>
              </a:lnSpc>
              <a:spcBef>
                <a:spcPts val="0"/>
              </a:spcBef>
            </a:pPr>
            <a:r>
              <a:rPr lang="en-US" sz="2400" dirty="0">
                <a:latin typeface="Times New Roman" panose="02020603050405020304" pitchFamily="18" charset="0"/>
                <a:cs typeface="Times New Roman" panose="02020603050405020304" pitchFamily="18" charset="0"/>
              </a:rPr>
              <a:t>Transition Function</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44</a:t>
            </a:fld>
            <a:endParaRPr lang="en-US" altLang="en-US"/>
          </a:p>
        </p:txBody>
      </p:sp>
    </p:spTree>
    <p:extLst>
      <p:ext uri="{BB962C8B-B14F-4D97-AF65-F5344CB8AC3E}">
        <p14:creationId xmlns:p14="http://schemas.microsoft.com/office/powerpoint/2010/main" val="38740297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marL="0" indent="0">
              <a:lnSpc>
                <a:spcPct val="150000"/>
              </a:lnSpc>
              <a:spcBef>
                <a:spcPts val="0"/>
              </a:spcBef>
              <a:buNone/>
            </a:pPr>
            <a:r>
              <a:rPr lang="en-US" sz="4400" dirty="0">
                <a:latin typeface="Times New Roman" panose="02020603050405020304" pitchFamily="18" charset="0"/>
                <a:cs typeface="Times New Roman" panose="02020603050405020304" pitchFamily="18" charset="0"/>
              </a:rPr>
              <a:t>1. Mathematical Representation </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2"/>
            <a:ext cx="12192000" cy="5883274"/>
          </a:xfrm>
        </p:spPr>
        <p:txBody>
          <a:bodyPr/>
          <a:lstStyle/>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A Finite Automaton (FA) is represented mathematically as:</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M=(Q,</a:t>
            </a:r>
            <a:r>
              <a:rPr lang="el-GR" sz="2400" dirty="0">
                <a:latin typeface="Times New Roman" panose="02020603050405020304" pitchFamily="18" charset="0"/>
                <a:cs typeface="Times New Roman" panose="02020603050405020304" pitchFamily="18" charset="0"/>
              </a:rPr>
              <a:t>Σ,δ,</a:t>
            </a:r>
            <a:r>
              <a:rPr lang="en-US" sz="2400" dirty="0">
                <a:latin typeface="Times New Roman" panose="02020603050405020304" pitchFamily="18" charset="0"/>
                <a:cs typeface="Times New Roman" panose="02020603050405020304" pitchFamily="18" charset="0"/>
              </a:rPr>
              <a:t>q0,F)</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Where:</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Q = Finite set of states</a:t>
            </a:r>
          </a:p>
          <a:p>
            <a:pPr marL="0" indent="0">
              <a:lnSpc>
                <a:spcPct val="150000"/>
              </a:lnSpc>
              <a:spcBef>
                <a:spcPts val="0"/>
              </a:spcBef>
              <a:buNone/>
            </a:pPr>
            <a:r>
              <a:rPr lang="en-IN" sz="2400" dirty="0">
                <a:latin typeface="Times New Roman" panose="02020603050405020304" pitchFamily="18" charset="0"/>
                <a:cs typeface="Times New Roman" panose="02020603050405020304" pitchFamily="18" charset="0"/>
              </a:rPr>
              <a:t>	</a:t>
            </a:r>
            <a:r>
              <a:rPr lang="el-GR" sz="2400" dirty="0">
                <a:latin typeface="Times New Roman" panose="02020603050405020304" pitchFamily="18" charset="0"/>
                <a:cs typeface="Times New Roman" panose="02020603050405020304" pitchFamily="18" charset="0"/>
              </a:rPr>
              <a:t>Σ = </a:t>
            </a:r>
            <a:r>
              <a:rPr lang="en-US" sz="2400" dirty="0">
                <a:latin typeface="Times New Roman" panose="02020603050405020304" pitchFamily="18" charset="0"/>
                <a:cs typeface="Times New Roman" panose="02020603050405020304" pitchFamily="18" charset="0"/>
              </a:rPr>
              <a:t>Input alphabet</a:t>
            </a:r>
          </a:p>
          <a:p>
            <a:pPr marL="0" indent="0">
              <a:lnSpc>
                <a:spcPct val="150000"/>
              </a:lnSpc>
              <a:spcBef>
                <a:spcPts val="0"/>
              </a:spcBef>
              <a:buNone/>
            </a:pPr>
            <a:r>
              <a:rPr lang="en-IN" sz="2400" dirty="0">
                <a:latin typeface="Times New Roman" panose="02020603050405020304" pitchFamily="18" charset="0"/>
                <a:cs typeface="Times New Roman" panose="02020603050405020304" pitchFamily="18" charset="0"/>
              </a:rPr>
              <a:t>	</a:t>
            </a:r>
            <a:r>
              <a:rPr lang="el-GR" sz="2400" dirty="0">
                <a:latin typeface="Times New Roman" panose="02020603050405020304" pitchFamily="18" charset="0"/>
                <a:cs typeface="Times New Roman" panose="02020603050405020304" pitchFamily="18" charset="0"/>
              </a:rPr>
              <a:t>δ = </a:t>
            </a:r>
            <a:r>
              <a:rPr lang="en-US" sz="2400" dirty="0">
                <a:latin typeface="Times New Roman" panose="02020603050405020304" pitchFamily="18" charset="0"/>
                <a:cs typeface="Times New Roman" panose="02020603050405020304" pitchFamily="18" charset="0"/>
              </a:rPr>
              <a:t>Transition function</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q₀ = Initial (start) state</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F = Set of final (accepting) states</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45</a:t>
            </a:fld>
            <a:endParaRPr lang="en-US" altLang="en-US"/>
          </a:p>
        </p:txBody>
      </p:sp>
    </p:spTree>
    <p:extLst>
      <p:ext uri="{BB962C8B-B14F-4D97-AF65-F5344CB8AC3E}">
        <p14:creationId xmlns:p14="http://schemas.microsoft.com/office/powerpoint/2010/main" val="9373072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marL="0" indent="0">
              <a:lnSpc>
                <a:spcPct val="150000"/>
              </a:lnSpc>
              <a:spcBef>
                <a:spcPts val="0"/>
              </a:spcBef>
              <a:buNone/>
            </a:pPr>
            <a:r>
              <a:rPr lang="en-US" sz="4400" dirty="0">
                <a:latin typeface="Times New Roman" panose="02020603050405020304" pitchFamily="18" charset="0"/>
                <a:cs typeface="Times New Roman" panose="02020603050405020304" pitchFamily="18" charset="0"/>
              </a:rPr>
              <a:t>2. State Diagram (Transition Diagram)</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1"/>
            <a:ext cx="12192000" cy="6015869"/>
          </a:xfrm>
        </p:spPr>
        <p:txBody>
          <a:bodyPr/>
          <a:lstStyle/>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A state diagram is a graphical representation of an automaton.</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Symbols used:</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 : State</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 : Initial state</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 : Final (accepting) state</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Arrow : Transition between states</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46</a:t>
            </a:fld>
            <a:endParaRPr lang="en-US" altLang="en-US"/>
          </a:p>
        </p:txBody>
      </p:sp>
    </p:spTree>
    <p:extLst>
      <p:ext uri="{BB962C8B-B14F-4D97-AF65-F5344CB8AC3E}">
        <p14:creationId xmlns:p14="http://schemas.microsoft.com/office/powerpoint/2010/main" val="27683417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marL="0" indent="0">
              <a:lnSpc>
                <a:spcPct val="150000"/>
              </a:lnSpc>
              <a:spcBef>
                <a:spcPts val="0"/>
              </a:spcBef>
              <a:buNone/>
            </a:pPr>
            <a:r>
              <a:rPr lang="en-US" sz="4400" dirty="0">
                <a:latin typeface="Times New Roman" panose="02020603050405020304" pitchFamily="18" charset="0"/>
                <a:cs typeface="Times New Roman" panose="02020603050405020304" pitchFamily="18" charset="0"/>
              </a:rPr>
              <a:t>3. Transition Table</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38201"/>
            <a:ext cx="12192000" cy="6015869"/>
          </a:xfrm>
        </p:spPr>
        <p:txBody>
          <a:bodyPr/>
          <a:lstStyle/>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The transition table lists the next state for every state-input combination.</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47</a:t>
            </a:fld>
            <a:endParaRPr lang="en-US" altLang="en-US"/>
          </a:p>
        </p:txBody>
      </p:sp>
      <p:graphicFrame>
        <p:nvGraphicFramePr>
          <p:cNvPr id="5" name="Table 4">
            <a:extLst>
              <a:ext uri="{FF2B5EF4-FFF2-40B4-BE49-F238E27FC236}">
                <a16:creationId xmlns:a16="http://schemas.microsoft.com/office/drawing/2014/main" id="{CA0DABAB-9354-4C89-A356-6F55383B2FB8}"/>
              </a:ext>
            </a:extLst>
          </p:cNvPr>
          <p:cNvGraphicFramePr>
            <a:graphicFrameLocks noGrp="1"/>
          </p:cNvGraphicFramePr>
          <p:nvPr>
            <p:extLst>
              <p:ext uri="{D42A27DB-BD31-4B8C-83A1-F6EECF244321}">
                <p14:modId xmlns:p14="http://schemas.microsoft.com/office/powerpoint/2010/main" val="813367534"/>
              </p:ext>
            </p:extLst>
          </p:nvPr>
        </p:nvGraphicFramePr>
        <p:xfrm>
          <a:off x="838200" y="2209800"/>
          <a:ext cx="7772400" cy="2340135"/>
        </p:xfrm>
        <a:graphic>
          <a:graphicData uri="http://schemas.openxmlformats.org/drawingml/2006/table">
            <a:tbl>
              <a:tblPr/>
              <a:tblGrid>
                <a:gridCol w="2590800">
                  <a:extLst>
                    <a:ext uri="{9D8B030D-6E8A-4147-A177-3AD203B41FA5}">
                      <a16:colId xmlns:a16="http://schemas.microsoft.com/office/drawing/2014/main" val="2425791653"/>
                    </a:ext>
                  </a:extLst>
                </a:gridCol>
                <a:gridCol w="2590800">
                  <a:extLst>
                    <a:ext uri="{9D8B030D-6E8A-4147-A177-3AD203B41FA5}">
                      <a16:colId xmlns:a16="http://schemas.microsoft.com/office/drawing/2014/main" val="3944567981"/>
                    </a:ext>
                  </a:extLst>
                </a:gridCol>
                <a:gridCol w="2590800">
                  <a:extLst>
                    <a:ext uri="{9D8B030D-6E8A-4147-A177-3AD203B41FA5}">
                      <a16:colId xmlns:a16="http://schemas.microsoft.com/office/drawing/2014/main" val="226233828"/>
                    </a:ext>
                  </a:extLst>
                </a:gridCol>
              </a:tblGrid>
              <a:tr h="780045">
                <a:tc>
                  <a:txBody>
                    <a:bodyPr/>
                    <a:lstStyle/>
                    <a:p>
                      <a:r>
                        <a:rPr lang="en-IN"/>
                        <a:t>Present State</a:t>
                      </a:r>
                    </a:p>
                  </a:txBody>
                  <a:tcPr anchor="ctr">
                    <a:lnL>
                      <a:noFill/>
                    </a:lnL>
                    <a:lnR>
                      <a:noFill/>
                    </a:lnR>
                    <a:lnT>
                      <a:noFill/>
                    </a:lnT>
                    <a:lnB>
                      <a:noFill/>
                    </a:lnB>
                  </a:tcPr>
                </a:tc>
                <a:tc>
                  <a:txBody>
                    <a:bodyPr/>
                    <a:lstStyle/>
                    <a:p>
                      <a:r>
                        <a:rPr lang="en-IN"/>
                        <a:t>Input 0</a:t>
                      </a:r>
                    </a:p>
                  </a:txBody>
                  <a:tcPr anchor="ctr">
                    <a:lnL>
                      <a:noFill/>
                    </a:lnL>
                    <a:lnR>
                      <a:noFill/>
                    </a:lnR>
                    <a:lnT>
                      <a:noFill/>
                    </a:lnT>
                    <a:lnB>
                      <a:noFill/>
                    </a:lnB>
                  </a:tcPr>
                </a:tc>
                <a:tc>
                  <a:txBody>
                    <a:bodyPr/>
                    <a:lstStyle/>
                    <a:p>
                      <a:r>
                        <a:rPr lang="en-IN"/>
                        <a:t>Input 1</a:t>
                      </a:r>
                    </a:p>
                  </a:txBody>
                  <a:tcPr anchor="ctr">
                    <a:lnL>
                      <a:noFill/>
                    </a:lnL>
                    <a:lnR>
                      <a:noFill/>
                    </a:lnR>
                    <a:lnT>
                      <a:noFill/>
                    </a:lnT>
                    <a:lnB>
                      <a:noFill/>
                    </a:lnB>
                  </a:tcPr>
                </a:tc>
                <a:extLst>
                  <a:ext uri="{0D108BD9-81ED-4DB2-BD59-A6C34878D82A}">
                    <a16:rowId xmlns:a16="http://schemas.microsoft.com/office/drawing/2014/main" val="1812496783"/>
                  </a:ext>
                </a:extLst>
              </a:tr>
              <a:tr h="780045">
                <a:tc>
                  <a:txBody>
                    <a:bodyPr/>
                    <a:lstStyle/>
                    <a:p>
                      <a:r>
                        <a:rPr lang="en-IN"/>
                        <a:t>→ q₀</a:t>
                      </a:r>
                    </a:p>
                  </a:txBody>
                  <a:tcPr anchor="ctr">
                    <a:lnL>
                      <a:noFill/>
                    </a:lnL>
                    <a:lnR>
                      <a:noFill/>
                    </a:lnR>
                    <a:lnT>
                      <a:noFill/>
                    </a:lnT>
                    <a:lnB>
                      <a:noFill/>
                    </a:lnB>
                  </a:tcPr>
                </a:tc>
                <a:tc>
                  <a:txBody>
                    <a:bodyPr/>
                    <a:lstStyle/>
                    <a:p>
                      <a:r>
                        <a:rPr lang="en-IN"/>
                        <a:t>q₁</a:t>
                      </a:r>
                    </a:p>
                  </a:txBody>
                  <a:tcPr anchor="ctr">
                    <a:lnL>
                      <a:noFill/>
                    </a:lnL>
                    <a:lnR>
                      <a:noFill/>
                    </a:lnR>
                    <a:lnT>
                      <a:noFill/>
                    </a:lnT>
                    <a:lnB>
                      <a:noFill/>
                    </a:lnB>
                  </a:tcPr>
                </a:tc>
                <a:tc>
                  <a:txBody>
                    <a:bodyPr/>
                    <a:lstStyle/>
                    <a:p>
                      <a:r>
                        <a:rPr lang="en-IN"/>
                        <a:t>q₀</a:t>
                      </a:r>
                    </a:p>
                  </a:txBody>
                  <a:tcPr anchor="ctr">
                    <a:lnL>
                      <a:noFill/>
                    </a:lnL>
                    <a:lnR>
                      <a:noFill/>
                    </a:lnR>
                    <a:lnT>
                      <a:noFill/>
                    </a:lnT>
                    <a:lnB>
                      <a:noFill/>
                    </a:lnB>
                  </a:tcPr>
                </a:tc>
                <a:extLst>
                  <a:ext uri="{0D108BD9-81ED-4DB2-BD59-A6C34878D82A}">
                    <a16:rowId xmlns:a16="http://schemas.microsoft.com/office/drawing/2014/main" val="2663530605"/>
                  </a:ext>
                </a:extLst>
              </a:tr>
              <a:tr h="780045">
                <a:tc>
                  <a:txBody>
                    <a:bodyPr/>
                    <a:lstStyle/>
                    <a:p>
                      <a:r>
                        <a:rPr lang="en-IN"/>
                        <a:t>*q₁</a:t>
                      </a:r>
                    </a:p>
                  </a:txBody>
                  <a:tcPr anchor="ctr">
                    <a:lnL>
                      <a:noFill/>
                    </a:lnL>
                    <a:lnR>
                      <a:noFill/>
                    </a:lnR>
                    <a:lnT>
                      <a:noFill/>
                    </a:lnT>
                    <a:lnB>
                      <a:noFill/>
                    </a:lnB>
                  </a:tcPr>
                </a:tc>
                <a:tc>
                  <a:txBody>
                    <a:bodyPr/>
                    <a:lstStyle/>
                    <a:p>
                      <a:r>
                        <a:rPr lang="en-IN"/>
                        <a:t>q₁</a:t>
                      </a:r>
                    </a:p>
                  </a:txBody>
                  <a:tcPr anchor="ctr">
                    <a:lnL>
                      <a:noFill/>
                    </a:lnL>
                    <a:lnR>
                      <a:noFill/>
                    </a:lnR>
                    <a:lnT>
                      <a:noFill/>
                    </a:lnT>
                    <a:lnB>
                      <a:noFill/>
                    </a:lnB>
                  </a:tcPr>
                </a:tc>
                <a:tc>
                  <a:txBody>
                    <a:bodyPr/>
                    <a:lstStyle/>
                    <a:p>
                      <a:r>
                        <a:rPr lang="en-IN" dirty="0"/>
                        <a:t>q₀</a:t>
                      </a:r>
                    </a:p>
                  </a:txBody>
                  <a:tcPr anchor="ctr">
                    <a:lnL>
                      <a:noFill/>
                    </a:lnL>
                    <a:lnR>
                      <a:noFill/>
                    </a:lnR>
                    <a:lnT>
                      <a:noFill/>
                    </a:lnT>
                    <a:lnB>
                      <a:noFill/>
                    </a:lnB>
                  </a:tcPr>
                </a:tc>
                <a:extLst>
                  <a:ext uri="{0D108BD9-81ED-4DB2-BD59-A6C34878D82A}">
                    <a16:rowId xmlns:a16="http://schemas.microsoft.com/office/drawing/2014/main" val="1065410597"/>
                  </a:ext>
                </a:extLst>
              </a:tr>
            </a:tbl>
          </a:graphicData>
        </a:graphic>
      </p:graphicFrame>
    </p:spTree>
    <p:extLst>
      <p:ext uri="{BB962C8B-B14F-4D97-AF65-F5344CB8AC3E}">
        <p14:creationId xmlns:p14="http://schemas.microsoft.com/office/powerpoint/2010/main" val="12068270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marL="0" indent="0">
              <a:lnSpc>
                <a:spcPct val="150000"/>
              </a:lnSpc>
              <a:spcBef>
                <a:spcPts val="0"/>
              </a:spcBef>
              <a:buNone/>
            </a:pPr>
            <a:r>
              <a:rPr lang="en-US" sz="4400" dirty="0">
                <a:latin typeface="Times New Roman" panose="02020603050405020304" pitchFamily="18" charset="0"/>
                <a:cs typeface="Times New Roman" panose="02020603050405020304" pitchFamily="18" charset="0"/>
              </a:rPr>
              <a:t>4. Transition Function</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42131"/>
            <a:ext cx="12192000" cy="6015869"/>
          </a:xfrm>
        </p:spPr>
        <p:txBody>
          <a:bodyPr/>
          <a:lstStyle/>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The transition function specifies how the automaton moves from one state to another.</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It is denoted by:</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δ:Q×Σ→Q</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Example:</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δ(q0,0)=q1	​</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δ(q0,1)=q0​</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δ(q1,0)=q1</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δ(q1,1)=q0</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48</a:t>
            </a:fld>
            <a:endParaRPr lang="en-US" altLang="en-US"/>
          </a:p>
        </p:txBody>
      </p:sp>
    </p:spTree>
    <p:extLst>
      <p:ext uri="{BB962C8B-B14F-4D97-AF65-F5344CB8AC3E}">
        <p14:creationId xmlns:p14="http://schemas.microsoft.com/office/powerpoint/2010/main" val="28842444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marL="0" indent="0">
              <a:lnSpc>
                <a:spcPct val="150000"/>
              </a:lnSpc>
              <a:spcBef>
                <a:spcPts val="0"/>
              </a:spcBef>
              <a:buNone/>
            </a:pPr>
            <a:r>
              <a:rPr lang="en-US" sz="4400" dirty="0">
                <a:latin typeface="Times New Roman" panose="02020603050405020304" pitchFamily="18" charset="0"/>
                <a:cs typeface="Times New Roman" panose="02020603050405020304" pitchFamily="18" charset="0"/>
              </a:rPr>
              <a:t>Language Recognizers</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42131"/>
            <a:ext cx="12192000" cy="6015869"/>
          </a:xfrm>
        </p:spPr>
        <p:txBody>
          <a:bodyPr/>
          <a:lstStyle/>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A Language Recognizer is a computational model (automaton) that determines whether a given input string belongs to a language.</a:t>
            </a:r>
          </a:p>
          <a:p>
            <a:pPr marL="0" indent="0">
              <a:lnSpc>
                <a:spcPct val="15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If the input string belongs to the language, the recognizer accepts it.</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If the input string does not belong to the language, the recognizer rejects it.</a:t>
            </a:r>
          </a:p>
          <a:p>
            <a:pPr marL="0" indent="0">
              <a:lnSpc>
                <a:spcPct val="150000"/>
              </a:lnSpc>
              <a:spcBef>
                <a:spcPts val="0"/>
              </a:spcBef>
              <a:buNone/>
            </a:pPr>
            <a:endParaRPr lang="en-US" sz="2400" dirty="0">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In other words, a language recognizer checks whether a string is a member of a given language.</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49</a:t>
            </a:fld>
            <a:endParaRPr lang="en-US" altLang="en-US"/>
          </a:p>
        </p:txBody>
      </p:sp>
    </p:spTree>
    <p:extLst>
      <p:ext uri="{BB962C8B-B14F-4D97-AF65-F5344CB8AC3E}">
        <p14:creationId xmlns:p14="http://schemas.microsoft.com/office/powerpoint/2010/main" val="27100168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marL="0" indent="0">
              <a:lnSpc>
                <a:spcPct val="150000"/>
              </a:lnSpc>
              <a:spcBef>
                <a:spcPts val="0"/>
              </a:spcBef>
              <a:buNone/>
            </a:pPr>
            <a:r>
              <a:rPr lang="en-US" sz="4400" dirty="0">
                <a:latin typeface="Times New Roman" panose="02020603050405020304" pitchFamily="18" charset="0"/>
                <a:cs typeface="Times New Roman" panose="02020603050405020304" pitchFamily="18" charset="0"/>
              </a:rPr>
              <a:t>Deterministic Finite Automaton (DFA).</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42131"/>
            <a:ext cx="12192000" cy="6015869"/>
          </a:xfrm>
        </p:spPr>
        <p:txBody>
          <a:bodyPr/>
          <a:lstStyle/>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DFA is a finite-state machine used to recognize regular languages. In a DFA, for every state and every input symbol, there is exactly one possible next state.</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M=(Q,Σ,δ,q0,F)</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where:</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Q = Finite set of states</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Σ = Finite input alphabet</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δ = Transition function, δ:Q×Σ→Q</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q₀ = Initial (start) state, where q0∈Q</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F = Set of accepting (final) states, where F⊆Q</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50</a:t>
            </a:fld>
            <a:endParaRPr lang="en-US" altLang="en-US"/>
          </a:p>
        </p:txBody>
      </p:sp>
      <p:pic>
        <p:nvPicPr>
          <p:cNvPr id="6" name="Picture 5">
            <a:extLst>
              <a:ext uri="{FF2B5EF4-FFF2-40B4-BE49-F238E27FC236}">
                <a16:creationId xmlns:a16="http://schemas.microsoft.com/office/drawing/2014/main" id="{17CD0B76-1826-40EB-B5DE-58AF49B6275F}"/>
              </a:ext>
            </a:extLst>
          </p:cNvPr>
          <p:cNvPicPr>
            <a:picLocks noChangeAspect="1"/>
          </p:cNvPicPr>
          <p:nvPr/>
        </p:nvPicPr>
        <p:blipFill>
          <a:blip r:embed="rId2"/>
          <a:stretch>
            <a:fillRect/>
          </a:stretch>
        </p:blipFill>
        <p:spPr>
          <a:xfrm>
            <a:off x="7162800" y="2396440"/>
            <a:ext cx="4839119" cy="2065120"/>
          </a:xfrm>
          <a:prstGeom prst="rect">
            <a:avLst/>
          </a:prstGeom>
        </p:spPr>
      </p:pic>
    </p:spTree>
    <p:extLst>
      <p:ext uri="{BB962C8B-B14F-4D97-AF65-F5344CB8AC3E}">
        <p14:creationId xmlns:p14="http://schemas.microsoft.com/office/powerpoint/2010/main" val="12588111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marL="0" indent="0">
              <a:lnSpc>
                <a:spcPct val="150000"/>
              </a:lnSpc>
              <a:spcBef>
                <a:spcPts val="0"/>
              </a:spcBef>
              <a:buNone/>
            </a:pPr>
            <a:r>
              <a:rPr lang="en-US" sz="4400" dirty="0">
                <a:latin typeface="Times New Roman" panose="02020603050405020304" pitchFamily="18" charset="0"/>
                <a:cs typeface="Times New Roman" panose="02020603050405020304" pitchFamily="18" charset="0"/>
              </a:rPr>
              <a:t>Nondeterministic Finite Automaton (NFA)</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42131"/>
            <a:ext cx="12192000" cy="6015869"/>
          </a:xfrm>
        </p:spPr>
        <p:txBody>
          <a:bodyPr/>
          <a:lstStyle/>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NFA is a finite-state machine used to recognize regular languages. In an NFA, for a given state and input symbol, there may be zero, one, or more possible next states. An NFA may also have ε (epsilon) transitions, which allow it to change states without consuming any input symbol.</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Formal Definition</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An NFA is defined by the 5-tuple:</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M=(Q,Σ,δ,q0,F)			​</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51</a:t>
            </a:fld>
            <a:endParaRPr lang="en-US" altLang="en-US"/>
          </a:p>
        </p:txBody>
      </p:sp>
    </p:spTree>
    <p:extLst>
      <p:ext uri="{BB962C8B-B14F-4D97-AF65-F5344CB8AC3E}">
        <p14:creationId xmlns:p14="http://schemas.microsoft.com/office/powerpoint/2010/main" val="11974584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marL="0" indent="0">
              <a:lnSpc>
                <a:spcPct val="150000"/>
              </a:lnSpc>
              <a:spcBef>
                <a:spcPts val="0"/>
              </a:spcBef>
              <a:buNone/>
            </a:pPr>
            <a:r>
              <a:rPr lang="en-US" sz="4400" dirty="0">
                <a:latin typeface="Times New Roman" panose="02020603050405020304" pitchFamily="18" charset="0"/>
                <a:cs typeface="Times New Roman" panose="02020603050405020304" pitchFamily="18" charset="0"/>
              </a:rPr>
              <a:t>Nondeterministic Finite Automaton (NFA)</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42131"/>
            <a:ext cx="12192000" cy="6015869"/>
          </a:xfrm>
        </p:spPr>
        <p:txBody>
          <a:bodyPr/>
          <a:lstStyle/>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where:</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Q = Finite set of states</a:t>
            </a:r>
          </a:p>
          <a:p>
            <a:pPr marL="0" indent="0">
              <a:lnSpc>
                <a:spcPct val="150000"/>
              </a:lnSpc>
              <a:spcBef>
                <a:spcPts val="0"/>
              </a:spcBef>
              <a:buNone/>
            </a:pPr>
            <a:r>
              <a:rPr lang="en-IN" sz="2400" dirty="0">
                <a:latin typeface="Times New Roman" panose="02020603050405020304" pitchFamily="18" charset="0"/>
                <a:cs typeface="Times New Roman" panose="02020603050405020304" pitchFamily="18" charset="0"/>
              </a:rPr>
              <a:t>	</a:t>
            </a:r>
            <a:r>
              <a:rPr lang="el-GR" sz="2400" dirty="0">
                <a:latin typeface="Times New Roman" panose="02020603050405020304" pitchFamily="18" charset="0"/>
                <a:cs typeface="Times New Roman" panose="02020603050405020304" pitchFamily="18" charset="0"/>
              </a:rPr>
              <a:t>Σ = </a:t>
            </a:r>
            <a:r>
              <a:rPr lang="en-US" sz="2400" dirty="0">
                <a:latin typeface="Times New Roman" panose="02020603050405020304" pitchFamily="18" charset="0"/>
                <a:cs typeface="Times New Roman" panose="02020603050405020304" pitchFamily="18" charset="0"/>
              </a:rPr>
              <a:t>Finite input alphabet</a:t>
            </a:r>
          </a:p>
          <a:p>
            <a:pPr marL="0" indent="0">
              <a:lnSpc>
                <a:spcPct val="150000"/>
              </a:lnSpc>
              <a:spcBef>
                <a:spcPts val="0"/>
              </a:spcBef>
              <a:buNone/>
            </a:pPr>
            <a:r>
              <a:rPr lang="en-IN" sz="2400" dirty="0">
                <a:latin typeface="Times New Roman" panose="02020603050405020304" pitchFamily="18" charset="0"/>
                <a:cs typeface="Times New Roman" panose="02020603050405020304" pitchFamily="18" charset="0"/>
              </a:rPr>
              <a:t>	</a:t>
            </a:r>
            <a:r>
              <a:rPr lang="el-GR" sz="2400" dirty="0">
                <a:latin typeface="Times New Roman" panose="02020603050405020304" pitchFamily="18" charset="0"/>
                <a:cs typeface="Times New Roman" panose="02020603050405020304" pitchFamily="18" charset="0"/>
              </a:rPr>
              <a:t>δ = </a:t>
            </a:r>
            <a:r>
              <a:rPr lang="en-US" sz="2400" dirty="0">
                <a:latin typeface="Times New Roman" panose="02020603050405020304" pitchFamily="18" charset="0"/>
                <a:cs typeface="Times New Roman" panose="02020603050405020304" pitchFamily="18" charset="0"/>
              </a:rPr>
              <a:t>Transition function,</a:t>
            </a:r>
          </a:p>
          <a:p>
            <a:pPr marL="0" indent="0">
              <a:lnSpc>
                <a:spcPct val="150000"/>
              </a:lnSpc>
              <a:spcBef>
                <a:spcPts val="0"/>
              </a:spcBef>
              <a:buNone/>
            </a:pPr>
            <a:r>
              <a:rPr lang="en-IN" sz="2400" dirty="0">
                <a:latin typeface="Times New Roman" panose="02020603050405020304" pitchFamily="18" charset="0"/>
                <a:cs typeface="Times New Roman" panose="02020603050405020304" pitchFamily="18" charset="0"/>
              </a:rPr>
              <a:t>	</a:t>
            </a:r>
            <a:r>
              <a:rPr lang="el-GR" sz="2400" dirty="0">
                <a:latin typeface="Times New Roman" panose="02020603050405020304" pitchFamily="18" charset="0"/>
                <a:cs typeface="Times New Roman" panose="02020603050405020304" pitchFamily="18" charset="0"/>
              </a:rPr>
              <a:t>δ:</a:t>
            </a:r>
            <a:r>
              <a:rPr lang="en-US" sz="2400" dirty="0">
                <a:latin typeface="Times New Roman" panose="02020603050405020304" pitchFamily="18" charset="0"/>
                <a:cs typeface="Times New Roman" panose="02020603050405020304" pitchFamily="18" charset="0"/>
              </a:rPr>
              <a:t>Q×(</a:t>
            </a:r>
            <a:r>
              <a:rPr lang="el-GR" sz="2400" dirty="0">
                <a:latin typeface="Times New Roman" panose="02020603050405020304" pitchFamily="18" charset="0"/>
                <a:cs typeface="Times New Roman" panose="02020603050405020304" pitchFamily="18" charset="0"/>
              </a:rPr>
              <a:t>Σ∪{ε})→2</a:t>
            </a:r>
            <a:r>
              <a:rPr lang="en-US" sz="2400" dirty="0">
                <a:latin typeface="Times New Roman" panose="02020603050405020304" pitchFamily="18" charset="0"/>
                <a:cs typeface="Times New Roman" panose="02020603050405020304" pitchFamily="18" charset="0"/>
              </a:rPr>
              <a:t>Q</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q₀ = Initial (start) state, where q0∈Q</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F = Set of accepting (final) states, where F⊆Q			​</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52</a:t>
            </a:fld>
            <a:endParaRPr lang="en-US" altLang="en-US"/>
          </a:p>
        </p:txBody>
      </p:sp>
    </p:spTree>
    <p:extLst>
      <p:ext uri="{BB962C8B-B14F-4D97-AF65-F5344CB8AC3E}">
        <p14:creationId xmlns:p14="http://schemas.microsoft.com/office/powerpoint/2010/main" val="11336204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DA52-2199-4CE7-8D6F-468D736751E5}"/>
              </a:ext>
            </a:extLst>
          </p:cNvPr>
          <p:cNvSpPr>
            <a:spLocks noGrp="1"/>
          </p:cNvSpPr>
          <p:nvPr>
            <p:ph type="title"/>
          </p:nvPr>
        </p:nvSpPr>
        <p:spPr>
          <a:xfrm>
            <a:off x="-1" y="3929"/>
            <a:ext cx="12192001" cy="758071"/>
          </a:xfrm>
        </p:spPr>
        <p:txBody>
          <a:bodyPr/>
          <a:lstStyle/>
          <a:p>
            <a:pPr marL="0" indent="0">
              <a:lnSpc>
                <a:spcPct val="150000"/>
              </a:lnSpc>
              <a:spcBef>
                <a:spcPts val="0"/>
              </a:spcBef>
              <a:buNone/>
            </a:pPr>
            <a:r>
              <a:rPr lang="en-US" sz="4400" dirty="0">
                <a:latin typeface="Times New Roman" panose="02020603050405020304" pitchFamily="18" charset="0"/>
                <a:cs typeface="Times New Roman" panose="02020603050405020304" pitchFamily="18" charset="0"/>
              </a:rPr>
              <a:t>Regular Languages</a:t>
            </a:r>
          </a:p>
        </p:txBody>
      </p:sp>
      <p:sp>
        <p:nvSpPr>
          <p:cNvPr id="3" name="Content Placeholder 2">
            <a:extLst>
              <a:ext uri="{FF2B5EF4-FFF2-40B4-BE49-F238E27FC236}">
                <a16:creationId xmlns:a16="http://schemas.microsoft.com/office/drawing/2014/main" id="{0D4FE02E-7359-44E1-8B48-DCC751B374B1}"/>
              </a:ext>
            </a:extLst>
          </p:cNvPr>
          <p:cNvSpPr>
            <a:spLocks noGrp="1"/>
          </p:cNvSpPr>
          <p:nvPr>
            <p:ph idx="1"/>
          </p:nvPr>
        </p:nvSpPr>
        <p:spPr>
          <a:xfrm>
            <a:off x="0" y="842131"/>
            <a:ext cx="12192000" cy="6015869"/>
          </a:xfrm>
        </p:spPr>
        <p:txBody>
          <a:bodyPr/>
          <a:lstStyle/>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A language is called regular if there exists a Deterministic Finite Automaton (DFA) or Nondeterministic Finite Automaton (NFA) that accepts all the strings in the language.</a:t>
            </a:r>
          </a:p>
          <a:p>
            <a:pPr marL="0" indent="0">
              <a:lnSpc>
                <a:spcPct val="150000"/>
              </a:lnSpc>
              <a:spcBef>
                <a:spcPts val="0"/>
              </a:spcBef>
              <a:buNone/>
            </a:pPr>
            <a:r>
              <a:rPr lang="en-US" sz="2400" b="1" dirty="0">
                <a:latin typeface="Times New Roman" panose="02020603050405020304" pitchFamily="18" charset="0"/>
                <a:cs typeface="Times New Roman" panose="02020603050405020304" pitchFamily="18" charset="0"/>
              </a:rPr>
              <a:t>Formal Definition</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A language L over an alphabet Σ is called a regular language if there exists a finite automaton</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M=(Q,Σ,δ,q0,F)</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such that</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	L=L(M)</a:t>
            </a:r>
          </a:p>
          <a:p>
            <a:pPr marL="0" indent="0">
              <a:lnSpc>
                <a:spcPct val="150000"/>
              </a:lnSpc>
              <a:spcBef>
                <a:spcPts val="0"/>
              </a:spcBef>
              <a:buNone/>
            </a:pPr>
            <a:r>
              <a:rPr lang="en-US" sz="2400" dirty="0">
                <a:latin typeface="Times New Roman" panose="02020603050405020304" pitchFamily="18" charset="0"/>
                <a:cs typeface="Times New Roman" panose="02020603050405020304" pitchFamily="18" charset="0"/>
              </a:rPr>
              <a:t>where L(M) is the language recognized by the finite automaton M.			​</a:t>
            </a:r>
          </a:p>
        </p:txBody>
      </p:sp>
      <p:sp>
        <p:nvSpPr>
          <p:cNvPr id="4" name="Slide Number Placeholder 3">
            <a:extLst>
              <a:ext uri="{FF2B5EF4-FFF2-40B4-BE49-F238E27FC236}">
                <a16:creationId xmlns:a16="http://schemas.microsoft.com/office/drawing/2014/main" id="{6C9AB01B-735A-40DB-A3E2-56E1529B5B85}"/>
              </a:ext>
            </a:extLst>
          </p:cNvPr>
          <p:cNvSpPr>
            <a:spLocks noGrp="1"/>
          </p:cNvSpPr>
          <p:nvPr>
            <p:ph type="sldNum" sz="quarter" idx="12"/>
          </p:nvPr>
        </p:nvSpPr>
        <p:spPr/>
        <p:txBody>
          <a:bodyPr/>
          <a:lstStyle/>
          <a:p>
            <a:pPr>
              <a:defRPr/>
            </a:pPr>
            <a:fld id="{A01CA5F2-CD08-4EF5-BAD9-872B7BB27165}" type="slidenum">
              <a:rPr lang="en-US" altLang="en-US" smtClean="0"/>
              <a:t>53</a:t>
            </a:fld>
            <a:endParaRPr lang="en-US" altLang="en-US"/>
          </a:p>
        </p:txBody>
      </p:sp>
    </p:spTree>
    <p:extLst>
      <p:ext uri="{BB962C8B-B14F-4D97-AF65-F5344CB8AC3E}">
        <p14:creationId xmlns:p14="http://schemas.microsoft.com/office/powerpoint/2010/main" val="2240790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954</TotalTime>
  <Words>2814</Words>
  <Application>Microsoft Office PowerPoint</Application>
  <PresentationFormat>Widescreen</PresentationFormat>
  <Paragraphs>422</Paragraphs>
  <Slides>53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Calibri Light</vt:lpstr>
      <vt:lpstr>Times New Roman</vt:lpstr>
      <vt:lpstr>Office Theme</vt:lpstr>
      <vt:lpstr>PowerPoint Presentation</vt:lpstr>
      <vt:lpstr>Introduction to Automata Theory. </vt:lpstr>
      <vt:lpstr>What is Computation?</vt:lpstr>
      <vt:lpstr>What is Theory of Computation?</vt:lpstr>
      <vt:lpstr>What is Theory of Computation?</vt:lpstr>
      <vt:lpstr>Why not study only real computers?</vt:lpstr>
      <vt:lpstr>Evolution of Computation Models</vt:lpstr>
      <vt:lpstr>Abstract Machine</vt:lpstr>
      <vt:lpstr>Automata Theory</vt:lpstr>
      <vt:lpstr>Computation</vt:lpstr>
      <vt:lpstr>Computation</vt:lpstr>
      <vt:lpstr>Computation</vt:lpstr>
      <vt:lpstr>Computation</vt:lpstr>
      <vt:lpstr>Automata </vt:lpstr>
      <vt:lpstr>PowerPoint Presentation</vt:lpstr>
      <vt:lpstr>Different Kinds of Automata</vt:lpstr>
      <vt:lpstr>Finite Automata</vt:lpstr>
      <vt:lpstr>Finite Automata </vt:lpstr>
      <vt:lpstr>Push Down Automata </vt:lpstr>
      <vt:lpstr>Turing Machine </vt:lpstr>
      <vt:lpstr>Turing Machine </vt:lpstr>
      <vt:lpstr>Power of Automata</vt:lpstr>
      <vt:lpstr>Application of Finite Automata</vt:lpstr>
      <vt:lpstr>Application of Finite Automata</vt:lpstr>
      <vt:lpstr>Applications of Push Down Automata</vt:lpstr>
      <vt:lpstr>Applications of Turing Machine</vt:lpstr>
      <vt:lpstr>Basic Notation and Definitions</vt:lpstr>
      <vt:lpstr>Basic Notation and Definitions</vt:lpstr>
      <vt:lpstr>Basic Notation and Definitions</vt:lpstr>
      <vt:lpstr>Basic Notation and Definitions</vt:lpstr>
      <vt:lpstr>Basic Notation and Definitions</vt:lpstr>
      <vt:lpstr>Basic Notation and Definitions</vt:lpstr>
      <vt:lpstr>Basic Notation and Definitions</vt:lpstr>
      <vt:lpstr>Basic Notation and Definitions</vt:lpstr>
      <vt:lpstr>Basic Notation and Definitions</vt:lpstr>
      <vt:lpstr>Basic Notation and Definitions</vt:lpstr>
      <vt:lpstr>Basic Notation and Definitions</vt:lpstr>
      <vt:lpstr>Operation of Languages</vt:lpstr>
      <vt:lpstr>Operation of Languages</vt:lpstr>
      <vt:lpstr>Operation of Languages</vt:lpstr>
      <vt:lpstr>Operation of Languages</vt:lpstr>
      <vt:lpstr>Operation of Languages</vt:lpstr>
      <vt:lpstr>Operation of Languages</vt:lpstr>
      <vt:lpstr>Representation of Automata</vt:lpstr>
      <vt:lpstr>1. Mathematical Representation </vt:lpstr>
      <vt:lpstr>2. State Diagram (Transition Diagram)</vt:lpstr>
      <vt:lpstr>3. Transition Table</vt:lpstr>
      <vt:lpstr>4. Transition Function</vt:lpstr>
      <vt:lpstr>Language Recognizers</vt:lpstr>
      <vt:lpstr>Deterministic Finite Automaton (DFA).</vt:lpstr>
      <vt:lpstr>Nondeterministic Finite Automaton (NFA)</vt:lpstr>
      <vt:lpstr>Nondeterministic Finite Automaton (NFA)</vt:lpstr>
      <vt:lpstr>Regular Languages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Solving Techniques</dc:title>
  <dc:creator>admin</dc:creator>
  <cp:lastModifiedBy>suhail manzoor</cp:lastModifiedBy>
  <cp:revision>697</cp:revision>
  <dcterms:created xsi:type="dcterms:W3CDTF">2007-08-28T09:12:00Z</dcterms:created>
  <dcterms:modified xsi:type="dcterms:W3CDTF">2026-08-18T04:01:10Z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3B0B12EA972A4107827D5565FBD3165A_13</vt:lpwstr>
  </property>
  <property fmtid="{D5CDD505-2E9C-101B-9397-08002B2CF9AE}" pid="3" name="KSOProductBuildVer">
    <vt:lpwstr>1033-12.1.0.25242</vt:lpwstr>
  </property>
</Properties>
</file>